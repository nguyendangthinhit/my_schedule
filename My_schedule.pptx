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ambria Bold" charset="1" panose="02040803050406030204"/>
      <p:regular r:id="rId32"/>
    </p:embeddedFont>
    <p:embeddedFont>
      <p:font typeface="Calibri (MS)" charset="1" panose="020F0502020204030204"/>
      <p:regular r:id="rId33"/>
    </p:embeddedFont>
    <p:embeddedFont>
      <p:font typeface="Calibri (MS) Bold" charset="1" panose="020F0702030404030204"/>
      <p:regular r:id="rId34"/>
    </p:embeddedFont>
    <p:embeddedFont>
      <p:font typeface="Calibri (MS) Italics" charset="1" panose="020F05020202040A0204"/>
      <p:regular r:id="rId35"/>
    </p:embeddedFont>
    <p:embeddedFont>
      <p:font typeface="Courier New" charset="1" panose="020703090202050204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9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2" Target="../media/image22.png" Type="http://schemas.openxmlformats.org/officeDocument/2006/relationships/image"/><Relationship Id="rId3" Target="../media/image2.jpe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3.png" Type="http://schemas.openxmlformats.org/officeDocument/2006/relationships/image"/><Relationship Id="rId8" Target="../media/image26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.jpe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.jpe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.jpeg" Type="http://schemas.openxmlformats.org/officeDocument/2006/relationships/image"/><Relationship Id="rId4" Target="../media/image33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34.png" Type="http://schemas.openxmlformats.org/officeDocument/2006/relationships/image"/><Relationship Id="rId3" Target="../media/image2.jpeg" Type="http://schemas.openxmlformats.org/officeDocument/2006/relationships/image"/><Relationship Id="rId4" Target="../media/image35.png" Type="http://schemas.openxmlformats.org/officeDocument/2006/relationships/image"/><Relationship Id="rId5" Target="../media/image2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2" Target="../media/image34.png" Type="http://schemas.openxmlformats.org/officeDocument/2006/relationships/image"/><Relationship Id="rId3" Target="../media/image2.jpeg" Type="http://schemas.openxmlformats.org/officeDocument/2006/relationships/image"/><Relationship Id="rId4" Target="../media/image35.png" Type="http://schemas.openxmlformats.org/officeDocument/2006/relationships/image"/><Relationship Id="rId5" Target="../media/image2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jpeg" Type="http://schemas.openxmlformats.org/officeDocument/2006/relationships/image"/><Relationship Id="rId4" Target="../media/image23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jpe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jpe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jpe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.jpeg" Type="http://schemas.openxmlformats.org/officeDocument/2006/relationships/image"/><Relationship Id="rId4" Target="../media/image4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.jpe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2.jpeg" Type="http://schemas.openxmlformats.org/officeDocument/2006/relationships/image"/><Relationship Id="rId4" Target="../media/image5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2.jpe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53.png" Type="http://schemas.openxmlformats.org/officeDocument/2006/relationships/image"/><Relationship Id="rId7" Target="../media/image17.pn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jpe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5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.jpeg" Type="http://schemas.openxmlformats.org/officeDocument/2006/relationships/image"/><Relationship Id="rId4" Target="../media/image24.png" Type="http://schemas.openxmlformats.org/officeDocument/2006/relationships/image"/><Relationship Id="rId5" Target="../media/image57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46888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B42F3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7132320"/>
            <a:ext cx="6583680" cy="6583680"/>
            <a:chOff x="0" y="0"/>
            <a:chExt cx="8778240" cy="8778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782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7662F5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89391" y="1440180"/>
            <a:ext cx="1508760" cy="1508760"/>
            <a:chOff x="0" y="0"/>
            <a:chExt cx="2011680" cy="2011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46007" y="1796796"/>
            <a:ext cx="795528" cy="795528"/>
            <a:chOff x="0" y="0"/>
            <a:chExt cx="1060704" cy="1060704"/>
          </a:xfrm>
        </p:grpSpPr>
        <p:sp>
          <p:nvSpPr>
            <p:cNvPr name="Freeform 9" id="9" descr="/home/claude/icons/calendar.png"/>
            <p:cNvSpPr/>
            <p:nvPr/>
          </p:nvSpPr>
          <p:spPr>
            <a:xfrm flipH="false" flipV="false" rot="0">
              <a:off x="0" y="0"/>
              <a:ext cx="1060704" cy="1060704"/>
            </a:xfrm>
            <a:custGeom>
              <a:avLst/>
              <a:gdLst/>
              <a:ahLst/>
              <a:cxnLst/>
              <a:rect r="r" b="b" t="t" l="l"/>
              <a:pathLst>
                <a:path h="106070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3360420"/>
            <a:ext cx="18287543" cy="1234440"/>
            <a:chOff x="0" y="0"/>
            <a:chExt cx="2438339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3391" cy="1645920"/>
            </a:xfrm>
            <a:custGeom>
              <a:avLst/>
              <a:gdLst/>
              <a:ahLst/>
              <a:cxnLst/>
              <a:rect r="r" b="b" t="t" l="l"/>
              <a:pathLst>
                <a:path h="164592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660" r="0" b="-2386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339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000"/>
                </a:lnSpc>
              </a:pPr>
              <a:r>
                <a:rPr lang="en-US" b="true" sz="75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 SCHEDULE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85771" y="4594860"/>
            <a:ext cx="13716000" cy="685800"/>
            <a:chOff x="0" y="0"/>
            <a:chExt cx="182880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2880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Ứng dụng quản lý lịch trình &amp; năng suất cá nhân thông minh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31012" y="5668966"/>
            <a:ext cx="2967904" cy="595046"/>
            <a:chOff x="0" y="0"/>
            <a:chExt cx="3957206" cy="7933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7193" cy="793496"/>
            </a:xfrm>
            <a:custGeom>
              <a:avLst/>
              <a:gdLst/>
              <a:ahLst/>
              <a:cxnLst/>
              <a:rect r="r" b="b" t="t" l="l"/>
              <a:pathLst>
                <a:path h="793496" w="3957193">
                  <a:moveTo>
                    <a:pt x="0" y="396748"/>
                  </a:moveTo>
                  <a:cubicBezTo>
                    <a:pt x="0" y="177546"/>
                    <a:pt x="177546" y="0"/>
                    <a:pt x="396748" y="0"/>
                  </a:cubicBezTo>
                  <a:lnTo>
                    <a:pt x="3560445" y="0"/>
                  </a:lnTo>
                  <a:cubicBezTo>
                    <a:pt x="3779520" y="0"/>
                    <a:pt x="3957193" y="177546"/>
                    <a:pt x="3957193" y="396748"/>
                  </a:cubicBezTo>
                  <a:cubicBezTo>
                    <a:pt x="3957193" y="615950"/>
                    <a:pt x="3779647" y="793496"/>
                    <a:pt x="3560445" y="793496"/>
                  </a:cubicBezTo>
                  <a:lnTo>
                    <a:pt x="396748" y="793496"/>
                  </a:lnTo>
                  <a:cubicBezTo>
                    <a:pt x="177546" y="793369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7662F5">
                <a:alpha val="15686"/>
              </a:srgbClr>
            </a:solidFill>
            <a:ln w="19050" cap="sq">
              <a:solidFill>
                <a:srgbClr val="8C7D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440537" y="5678491"/>
            <a:ext cx="2948854" cy="575996"/>
            <a:chOff x="0" y="0"/>
            <a:chExt cx="3931806" cy="767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31800" cy="768000"/>
            </a:xfrm>
            <a:custGeom>
              <a:avLst/>
              <a:gdLst/>
              <a:ahLst/>
              <a:cxnLst/>
              <a:rect r="r" b="b" t="t" l="l"/>
              <a:pathLst>
                <a:path h="768000" w="3931800">
                  <a:moveTo>
                    <a:pt x="0" y="0"/>
                  </a:moveTo>
                  <a:lnTo>
                    <a:pt x="3931800" y="0"/>
                  </a:lnTo>
                  <a:lnTo>
                    <a:pt x="39318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54" r="0" b="-497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931806" cy="796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ANDROID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88655" y="5668966"/>
            <a:ext cx="2967904" cy="595046"/>
            <a:chOff x="0" y="0"/>
            <a:chExt cx="3957206" cy="7933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57193" cy="793496"/>
            </a:xfrm>
            <a:custGeom>
              <a:avLst/>
              <a:gdLst/>
              <a:ahLst/>
              <a:cxnLst/>
              <a:rect r="r" b="b" t="t" l="l"/>
              <a:pathLst>
                <a:path h="793496" w="3957193">
                  <a:moveTo>
                    <a:pt x="0" y="396748"/>
                  </a:moveTo>
                  <a:cubicBezTo>
                    <a:pt x="0" y="177546"/>
                    <a:pt x="177546" y="0"/>
                    <a:pt x="396748" y="0"/>
                  </a:cubicBezTo>
                  <a:lnTo>
                    <a:pt x="3560445" y="0"/>
                  </a:lnTo>
                  <a:cubicBezTo>
                    <a:pt x="3779520" y="0"/>
                    <a:pt x="3957193" y="177546"/>
                    <a:pt x="3957193" y="396748"/>
                  </a:cubicBezTo>
                  <a:cubicBezTo>
                    <a:pt x="3957193" y="615950"/>
                    <a:pt x="3779647" y="793496"/>
                    <a:pt x="3560445" y="793496"/>
                  </a:cubicBezTo>
                  <a:lnTo>
                    <a:pt x="396748" y="793496"/>
                  </a:lnTo>
                  <a:cubicBezTo>
                    <a:pt x="177546" y="793369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7662F5">
                <a:alpha val="15686"/>
              </a:srgbClr>
            </a:solidFill>
            <a:ln w="19050" cap="sq">
              <a:solidFill>
                <a:srgbClr val="8C7D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898180" y="5678491"/>
            <a:ext cx="2948854" cy="575996"/>
            <a:chOff x="0" y="0"/>
            <a:chExt cx="3931806" cy="767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31800" cy="768000"/>
            </a:xfrm>
            <a:custGeom>
              <a:avLst/>
              <a:gdLst/>
              <a:ahLst/>
              <a:cxnLst/>
              <a:rect r="r" b="b" t="t" l="l"/>
              <a:pathLst>
                <a:path h="768000" w="3931800">
                  <a:moveTo>
                    <a:pt x="0" y="0"/>
                  </a:moveTo>
                  <a:lnTo>
                    <a:pt x="3931800" y="0"/>
                  </a:lnTo>
                  <a:lnTo>
                    <a:pt x="39318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54" r="0" b="-4975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931806" cy="796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GEMINI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0800">
            <a:off x="6116707" y="8818407"/>
            <a:ext cx="6054033" cy="0"/>
          </a:xfrm>
          <a:prstGeom prst="line">
            <a:avLst/>
          </a:prstGeom>
          <a:ln cap="rnd" w="9525">
            <a:solidFill>
              <a:srgbClr val="463B8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0" y="9097489"/>
            <a:ext cx="18287552" cy="480146"/>
            <a:chOff x="0" y="0"/>
            <a:chExt cx="24383403" cy="6401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3400" cy="640200"/>
            </a:xfrm>
            <a:custGeom>
              <a:avLst/>
              <a:gdLst/>
              <a:ahLst/>
              <a:cxnLst/>
              <a:rect r="r" b="b" t="t" l="l"/>
              <a:pathLst>
                <a:path h="640200" w="24383400">
                  <a:moveTo>
                    <a:pt x="0" y="0"/>
                  </a:moveTo>
                  <a:lnTo>
                    <a:pt x="24383400" y="0"/>
                  </a:lnTo>
                  <a:lnTo>
                    <a:pt x="24383400" y="640200"/>
                  </a:lnTo>
                  <a:lnTo>
                    <a:pt x="0" y="64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30" r="0" b="-6921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4383403" cy="687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A79E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Báo cáo Mini-Project Thực tập — Ứng dụng Android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76296" y="6727479"/>
            <a:ext cx="3335398" cy="1622698"/>
            <a:chOff x="0" y="0"/>
            <a:chExt cx="4447197" cy="21635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47200" cy="2163600"/>
            </a:xfrm>
            <a:custGeom>
              <a:avLst/>
              <a:gdLst/>
              <a:ahLst/>
              <a:cxnLst/>
              <a:rect r="r" b="b" t="t" l="l"/>
              <a:pathLst>
                <a:path h="2163600" w="4447200">
                  <a:moveTo>
                    <a:pt x="0" y="0"/>
                  </a:moveTo>
                  <a:lnTo>
                    <a:pt x="4447200" y="0"/>
                  </a:lnTo>
                  <a:lnTo>
                    <a:pt x="4447200" y="2163600"/>
                  </a:lnTo>
                  <a:lnTo>
                    <a:pt x="0" y="216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420" t="0" r="-1242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447197" cy="22112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Nhóm 4</a:t>
              </a:r>
            </a:p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Nguyễn Đăng Thịnh </a:t>
              </a:r>
            </a:p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Trương Đức Quốc Huy</a:t>
              </a:r>
            </a:p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Nguyễn Bá Thiện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checklis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 PROJECT THỰC TẬP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Nội dung trình bày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253615"/>
            <a:ext cx="8065541" cy="1171194"/>
            <a:chOff x="0" y="0"/>
            <a:chExt cx="10754055" cy="1561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1268" y="2345436"/>
            <a:ext cx="1234440" cy="987552"/>
            <a:chOff x="0" y="0"/>
            <a:chExt cx="1645920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0240" y="2510028"/>
            <a:ext cx="658368" cy="658368"/>
            <a:chOff x="0" y="0"/>
            <a:chExt cx="877824" cy="8778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071116" y="2660904"/>
            <a:ext cx="356616" cy="356616"/>
            <a:chOff x="0" y="0"/>
            <a:chExt cx="475488" cy="475488"/>
          </a:xfrm>
        </p:grpSpPr>
        <p:sp>
          <p:nvSpPr>
            <p:cNvPr name="Freeform 26" id="26" descr="/home/claude/icons/flag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811780" y="2263140"/>
            <a:ext cx="5783351" cy="1152144"/>
            <a:chOff x="0" y="0"/>
            <a:chExt cx="7711135" cy="15361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Giới thiệu &amp; mục tiêu dự án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4855" y="3652647"/>
            <a:ext cx="8065541" cy="1171194"/>
            <a:chOff x="0" y="0"/>
            <a:chExt cx="10754055" cy="1561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01268" y="3744468"/>
            <a:ext cx="1234440" cy="987552"/>
            <a:chOff x="0" y="0"/>
            <a:chExt cx="1645920" cy="13167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20240" y="3909060"/>
            <a:ext cx="658368" cy="658368"/>
            <a:chOff x="0" y="0"/>
            <a:chExt cx="877824" cy="8778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071116" y="4059936"/>
            <a:ext cx="356616" cy="356616"/>
            <a:chOff x="0" y="0"/>
            <a:chExt cx="475488" cy="475488"/>
          </a:xfrm>
        </p:grpSpPr>
        <p:sp>
          <p:nvSpPr>
            <p:cNvPr name="Freeform 38" id="38" descr="/home/claude/icons/code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811780" y="3662172"/>
            <a:ext cx="5783351" cy="1152144"/>
            <a:chOff x="0" y="0"/>
            <a:chExt cx="7711135" cy="15361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Công nghệ sử dụng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44855" y="5051679"/>
            <a:ext cx="8065541" cy="1171194"/>
            <a:chOff x="0" y="0"/>
            <a:chExt cx="10754055" cy="1561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01268" y="5143500"/>
            <a:ext cx="1234440" cy="987552"/>
            <a:chOff x="0" y="0"/>
            <a:chExt cx="1645920" cy="13167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0240" y="5308092"/>
            <a:ext cx="658368" cy="658368"/>
            <a:chOff x="0" y="0"/>
            <a:chExt cx="877824" cy="8778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071116" y="5458968"/>
            <a:ext cx="356616" cy="356616"/>
            <a:chOff x="0" y="0"/>
            <a:chExt cx="475488" cy="475488"/>
          </a:xfrm>
        </p:grpSpPr>
        <p:sp>
          <p:nvSpPr>
            <p:cNvPr name="Freeform 50" id="50" descr="/home/claude/icons/layers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811780" y="5061204"/>
            <a:ext cx="5783351" cy="1152144"/>
            <a:chOff x="0" y="0"/>
            <a:chExt cx="7711135" cy="153619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trúc hệ thống (MVVM)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4855" y="6450711"/>
            <a:ext cx="8065541" cy="1171194"/>
            <a:chOff x="0" y="0"/>
            <a:chExt cx="10754055" cy="15615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01268" y="6542532"/>
            <a:ext cx="1234440" cy="987552"/>
            <a:chOff x="0" y="0"/>
            <a:chExt cx="164592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920240" y="6707124"/>
            <a:ext cx="658368" cy="658368"/>
            <a:chOff x="0" y="0"/>
            <a:chExt cx="877824" cy="8778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071116" y="6858000"/>
            <a:ext cx="356616" cy="356616"/>
            <a:chOff x="0" y="0"/>
            <a:chExt cx="475488" cy="475488"/>
          </a:xfrm>
        </p:grpSpPr>
        <p:sp>
          <p:nvSpPr>
            <p:cNvPr name="Freeform 62" id="62" descr="/home/claude/icons/tree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811780" y="6460236"/>
            <a:ext cx="5783351" cy="1152144"/>
            <a:chOff x="0" y="0"/>
            <a:chExt cx="7711135" cy="15361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Mô hình dữ liệu &amp; điều hướng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77146" y="2253615"/>
            <a:ext cx="8065541" cy="1171194"/>
            <a:chOff x="0" y="0"/>
            <a:chExt cx="10754055" cy="156159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733559" y="2345436"/>
            <a:ext cx="1234440" cy="987552"/>
            <a:chOff x="0" y="0"/>
            <a:chExt cx="1645920" cy="131673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652531" y="2510028"/>
            <a:ext cx="658368" cy="658368"/>
            <a:chOff x="0" y="0"/>
            <a:chExt cx="877824" cy="87782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803407" y="2660904"/>
            <a:ext cx="356616" cy="356616"/>
            <a:chOff x="0" y="0"/>
            <a:chExt cx="475488" cy="475488"/>
          </a:xfrm>
        </p:grpSpPr>
        <p:sp>
          <p:nvSpPr>
            <p:cNvPr name="Freeform 74" id="74" descr="/home/claude/icons/phone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544071" y="2263140"/>
            <a:ext cx="5783351" cy="1152144"/>
            <a:chOff x="0" y="0"/>
            <a:chExt cx="7711135" cy="15361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Các chức năng chính của ứng dụng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77146" y="3652647"/>
            <a:ext cx="8065541" cy="1171194"/>
            <a:chOff x="0" y="0"/>
            <a:chExt cx="10754055" cy="15615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33559" y="3744468"/>
            <a:ext cx="1234440" cy="987552"/>
            <a:chOff x="0" y="0"/>
            <a:chExt cx="1645920" cy="13167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652531" y="3909060"/>
            <a:ext cx="658368" cy="658368"/>
            <a:chOff x="0" y="0"/>
            <a:chExt cx="877824" cy="87782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803407" y="4059936"/>
            <a:ext cx="356616" cy="356616"/>
            <a:chOff x="0" y="0"/>
            <a:chExt cx="475488" cy="475488"/>
          </a:xfrm>
        </p:grpSpPr>
        <p:sp>
          <p:nvSpPr>
            <p:cNvPr name="Freeform 86" id="86" descr="/home/claude/icons/widgets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544071" y="3662172"/>
            <a:ext cx="5783351" cy="1152144"/>
            <a:chOff x="0" y="0"/>
            <a:chExt cx="7711135" cy="153619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Widget, Thông báo &amp; Tích hợp API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477146" y="5051679"/>
            <a:ext cx="8065541" cy="1171194"/>
            <a:chOff x="0" y="0"/>
            <a:chExt cx="10754055" cy="156159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754106" cy="1561719"/>
            </a:xfrm>
            <a:custGeom>
              <a:avLst/>
              <a:gdLst/>
              <a:ahLst/>
              <a:cxnLst/>
              <a:rect r="r" b="b" t="t" l="l"/>
              <a:pathLst>
                <a:path h="1561719" w="10754106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733559" y="5143500"/>
            <a:ext cx="1234440" cy="987552"/>
            <a:chOff x="0" y="0"/>
            <a:chExt cx="1645920" cy="13167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645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16459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D9D3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07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652531" y="5308092"/>
            <a:ext cx="658368" cy="658368"/>
            <a:chOff x="0" y="0"/>
            <a:chExt cx="877824" cy="87782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77824" cy="877824"/>
            </a:xfrm>
            <a:custGeom>
              <a:avLst/>
              <a:gdLst/>
              <a:ahLst/>
              <a:cxnLst/>
              <a:rect r="r" b="b" t="t" l="l"/>
              <a:pathLst>
                <a:path h="877824" w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803407" y="5458968"/>
            <a:ext cx="356616" cy="356616"/>
            <a:chOff x="0" y="0"/>
            <a:chExt cx="475488" cy="475488"/>
          </a:xfrm>
        </p:grpSpPr>
        <p:sp>
          <p:nvSpPr>
            <p:cNvPr name="Freeform 98" id="98" descr="/home/claude/icons/trending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544071" y="5061204"/>
            <a:ext cx="5783351" cy="1152144"/>
            <a:chOff x="0" y="0"/>
            <a:chExt cx="7711135" cy="153619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711136" cy="1536192"/>
            </a:xfrm>
            <a:custGeom>
              <a:avLst/>
              <a:gdLst/>
              <a:ahLst/>
              <a:cxnLst/>
              <a:rect r="r" b="b" t="t" l="l"/>
              <a:pathLst>
                <a:path h="1536192" w="7711136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07" r="0" b="-47807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7711135" cy="1574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&amp; hướng phát triển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flag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Đặt vấn đề &amp; Mục tiêu dự án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322195"/>
            <a:ext cx="8065541" cy="7082790"/>
            <a:chOff x="0" y="0"/>
            <a:chExt cx="10754055" cy="9443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106" cy="9443720"/>
            </a:xfrm>
            <a:custGeom>
              <a:avLst/>
              <a:gdLst/>
              <a:ahLst/>
              <a:cxnLst/>
              <a:rect r="r" b="b" t="t" l="l"/>
              <a:pathLst>
                <a:path h="9443720" w="1075410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439" y="0"/>
                  </a:lnTo>
                  <a:cubicBezTo>
                    <a:pt x="10639171" y="0"/>
                    <a:pt x="10754106" y="114935"/>
                    <a:pt x="10754106" y="256667"/>
                  </a:cubicBezTo>
                  <a:lnTo>
                    <a:pt x="10754106" y="9187053"/>
                  </a:lnTo>
                  <a:cubicBezTo>
                    <a:pt x="10754106" y="9328785"/>
                    <a:pt x="10639171" y="9443720"/>
                    <a:pt x="10497439" y="9443720"/>
                  </a:cubicBezTo>
                  <a:lnTo>
                    <a:pt x="256667" y="9443720"/>
                  </a:lnTo>
                  <a:cubicBezTo>
                    <a:pt x="114935" y="9443720"/>
                    <a:pt x="0" y="9328785"/>
                    <a:pt x="0" y="91870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74320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2921508"/>
            <a:ext cx="411480" cy="411480"/>
            <a:chOff x="0" y="0"/>
            <a:chExt cx="548640" cy="548640"/>
          </a:xfrm>
        </p:grpSpPr>
        <p:sp>
          <p:nvSpPr>
            <p:cNvPr name="Freeform 23" id="23" descr="/home/claude/icons/target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25980" y="2798064"/>
            <a:ext cx="6400571" cy="658368"/>
            <a:chOff x="0" y="0"/>
            <a:chExt cx="8534095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534095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Vấn đề thực tế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25861" y="3665201"/>
            <a:ext cx="6903520" cy="5341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6474" indent="-183237" lvl="1">
              <a:lnSpc>
                <a:spcPts val="3600"/>
              </a:lnSpc>
              <a:buFont typeface="Arial"/>
              <a:buChar char="•"/>
            </a:pPr>
            <a:r>
              <a:rPr lang="en-US" sz="202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Dễ quên lịch học, lịch làm việc và các cuộc hẹn quan trọng</a:t>
            </a:r>
          </a:p>
          <a:p>
            <a:pPr algn="l" marL="366474" indent="-183237" lvl="1">
              <a:lnSpc>
                <a:spcPts val="3600"/>
              </a:lnSpc>
              <a:buFont typeface="Arial"/>
              <a:buChar char="•"/>
            </a:pPr>
            <a:r>
              <a:rPr lang="en-US" sz="202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Thiếu cái nhìn trực quan về tiến độ hoàn thành công việc hằng ngày</a:t>
            </a:r>
          </a:p>
          <a:p>
            <a:pPr algn="l" marL="366474" indent="-183237" lvl="1">
              <a:lnSpc>
                <a:spcPts val="3600"/>
              </a:lnSpc>
              <a:buFont typeface="Arial"/>
              <a:buChar char="•"/>
            </a:pPr>
            <a:r>
              <a:rPr lang="en-US" sz="202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Chưa có công cụ hỗ trợ lên kế hoạch &amp; tư vấn thông minh</a:t>
            </a:r>
          </a:p>
          <a:p>
            <a:pPr algn="l" marL="366474" indent="-183237" lvl="1">
              <a:lnSpc>
                <a:spcPts val="3600"/>
              </a:lnSpc>
              <a:buFont typeface="Arial"/>
              <a:buChar char="•"/>
            </a:pPr>
            <a:r>
              <a:rPr lang="en-US" sz="202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Chưa tận dụng dữ liệu thời tiết, ngày lễ, lịch Âm khi lập lịch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86671" y="2331720"/>
            <a:ext cx="8046491" cy="7063740"/>
            <a:chOff x="0" y="0"/>
            <a:chExt cx="10728655" cy="9418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8706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728706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554"/>
                    <a:pt x="10728706" y="256032"/>
                  </a:cubicBezTo>
                  <a:lnTo>
                    <a:pt x="10728706" y="9162288"/>
                  </a:lnTo>
                  <a:cubicBezTo>
                    <a:pt x="10728706" y="9303639"/>
                    <a:pt x="10614152" y="9418320"/>
                    <a:pt x="10472674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1C144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98151" y="2743200"/>
            <a:ext cx="768096" cy="768096"/>
            <a:chOff x="0" y="0"/>
            <a:chExt cx="102412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62743" y="2907792"/>
            <a:ext cx="438912" cy="438912"/>
            <a:chOff x="0" y="0"/>
            <a:chExt cx="585216" cy="585216"/>
          </a:xfrm>
        </p:grpSpPr>
        <p:sp>
          <p:nvSpPr>
            <p:cNvPr name="Freeform 33" id="33" descr="/home/claude/icons/check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58271" y="2798064"/>
            <a:ext cx="6400571" cy="658368"/>
            <a:chOff x="0" y="0"/>
            <a:chExt cx="8534095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534095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Mục tiêu dự án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58152" y="3684251"/>
            <a:ext cx="6903520" cy="532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3239"/>
              </a:lnSpc>
              <a:buFont typeface="Arial"/>
              <a:buChar char="•"/>
            </a:pPr>
            <a:r>
              <a:rPr lang="en-US" sz="1950">
                <a:solidFill>
                  <a:srgbClr val="E6E2FA"/>
                </a:solidFill>
                <a:latin typeface="Calibri (MS)"/>
                <a:ea typeface="Calibri (MS)"/>
                <a:cs typeface="Calibri (MS)"/>
                <a:sym typeface="Calibri (MS)"/>
              </a:rPr>
              <a:t>Xây dựng app quản lý lịch trình trực quan theo Ngày / Tuần / Tháng</a:t>
            </a:r>
          </a:p>
          <a:p>
            <a:pPr algn="l" marL="352901" indent="-176451" lvl="1">
              <a:lnSpc>
                <a:spcPts val="3239"/>
              </a:lnSpc>
              <a:buFont typeface="Arial"/>
              <a:buChar char="•"/>
            </a:pPr>
            <a:r>
              <a:rPr lang="en-US" sz="1950">
                <a:solidFill>
                  <a:srgbClr val="E6E2FA"/>
                </a:solidFill>
                <a:latin typeface="Calibri (MS)"/>
                <a:ea typeface="Calibri (MS)"/>
                <a:cs typeface="Calibri (MS)"/>
                <a:sym typeface="Calibri (MS)"/>
              </a:rPr>
              <a:t>Tích hợp trợ lý AI (Gemini) tư vấn dựa trên lịch trình cá nhân</a:t>
            </a:r>
          </a:p>
          <a:p>
            <a:pPr algn="l" marL="352901" indent="-176451" lvl="1">
              <a:lnSpc>
                <a:spcPts val="3239"/>
              </a:lnSpc>
              <a:buFont typeface="Arial"/>
              <a:buChar char="•"/>
            </a:pPr>
            <a:r>
              <a:rPr lang="en-US" sz="1950">
                <a:solidFill>
                  <a:srgbClr val="E6E2FA"/>
                </a:solidFill>
                <a:latin typeface="Calibri (MS)"/>
                <a:ea typeface="Calibri (MS)"/>
                <a:cs typeface="Calibri (MS)"/>
                <a:sym typeface="Calibri (MS)"/>
              </a:rPr>
              <a:t>Trực quan hoá hiệu suất bằng biểu đồ thống kê chi tiết</a:t>
            </a:r>
          </a:p>
          <a:p>
            <a:pPr algn="l" marL="352901" indent="-176451" lvl="1">
              <a:lnSpc>
                <a:spcPts val="3239"/>
              </a:lnSpc>
              <a:buFont typeface="Arial"/>
              <a:buChar char="•"/>
            </a:pPr>
            <a:r>
              <a:rPr lang="en-US" sz="1950">
                <a:solidFill>
                  <a:srgbClr val="E6E2FA"/>
                </a:solidFill>
                <a:latin typeface="Calibri (MS)"/>
                <a:ea typeface="Calibri (MS)"/>
                <a:cs typeface="Calibri (MS)"/>
                <a:sym typeface="Calibri (MS)"/>
              </a:rPr>
              <a:t>Nhắc nhở thông minh kèm âm thanh và widget màn hình chính</a:t>
            </a:r>
          </a:p>
          <a:p>
            <a:pPr algn="l" marL="352901" indent="-176451" lvl="1">
              <a:lnSpc>
                <a:spcPts val="3239"/>
              </a:lnSpc>
              <a:buFont typeface="Arial"/>
              <a:buChar char="•"/>
            </a:pPr>
            <a:r>
              <a:rPr lang="en-US" sz="1950">
                <a:solidFill>
                  <a:srgbClr val="E6E2FA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Lịch Âm Dương, đồng bộ thời tiết &amp; ngày lễ Việt Nam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bol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Tổng quan giải pháp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390775"/>
            <a:ext cx="5291938" cy="2967990"/>
            <a:chOff x="0" y="0"/>
            <a:chExt cx="7055917" cy="3957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8428" y="2756916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0452" y="2948940"/>
            <a:ext cx="438912" cy="438912"/>
            <a:chOff x="0" y="0"/>
            <a:chExt cx="585216" cy="585216"/>
          </a:xfrm>
        </p:grpSpPr>
        <p:sp>
          <p:nvSpPr>
            <p:cNvPr name="Freeform 23" id="23" descr="/home/claude/icons/calendar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38428" y="3771900"/>
            <a:ext cx="4504792" cy="576072"/>
            <a:chOff x="0" y="0"/>
            <a:chExt cx="6006389" cy="7680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Lịch trình đa chế độ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38428" y="4347972"/>
            <a:ext cx="4504792" cy="891540"/>
            <a:chOff x="0" y="0"/>
            <a:chExt cx="6006389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Xem theo Ngày, Tuần, Tháng với giao diện trực quan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97803" y="2390775"/>
            <a:ext cx="5291938" cy="2967990"/>
            <a:chOff x="0" y="0"/>
            <a:chExt cx="7055917" cy="3957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891376" y="2756916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083400" y="2948940"/>
            <a:ext cx="438912" cy="438912"/>
            <a:chOff x="0" y="0"/>
            <a:chExt cx="585216" cy="585216"/>
          </a:xfrm>
        </p:grpSpPr>
        <p:sp>
          <p:nvSpPr>
            <p:cNvPr name="Freeform 35" id="35" descr="/home/claude/icons/smartTo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891376" y="3771900"/>
            <a:ext cx="4504792" cy="576072"/>
            <a:chOff x="0" y="0"/>
            <a:chExt cx="6006389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Trợ lý AI Gemini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91376" y="4347972"/>
            <a:ext cx="4504792" cy="891540"/>
            <a:chOff x="0" y="0"/>
            <a:chExt cx="6006389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Trò chuyện &amp; tư vấn dựa trên dữ liệu lịch cá nhân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250750" y="2390775"/>
            <a:ext cx="5291938" cy="2967990"/>
            <a:chOff x="0" y="0"/>
            <a:chExt cx="7055917" cy="39573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2644323" y="2756916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836347" y="2948940"/>
            <a:ext cx="438912" cy="438912"/>
            <a:chOff x="0" y="0"/>
            <a:chExt cx="585216" cy="585216"/>
          </a:xfrm>
        </p:grpSpPr>
        <p:sp>
          <p:nvSpPr>
            <p:cNvPr name="Freeform 47" id="47" descr="/home/claude/icons/barChar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644323" y="3771900"/>
            <a:ext cx="4504792" cy="576072"/>
            <a:chOff x="0" y="0"/>
            <a:chExt cx="6006389" cy="7680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Thống kê hiệu suất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644323" y="4347972"/>
            <a:ext cx="4504792" cy="891540"/>
            <a:chOff x="0" y="0"/>
            <a:chExt cx="6006389" cy="11887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Biểu đồ tỉ lệ hoàn thành, xu hướng theo tuần / tháng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44855" y="5819775"/>
            <a:ext cx="5291938" cy="2967990"/>
            <a:chOff x="0" y="0"/>
            <a:chExt cx="7055917" cy="39573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138428" y="6185916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30452" y="6377940"/>
            <a:ext cx="438912" cy="438912"/>
            <a:chOff x="0" y="0"/>
            <a:chExt cx="585216" cy="585216"/>
          </a:xfrm>
        </p:grpSpPr>
        <p:sp>
          <p:nvSpPr>
            <p:cNvPr name="Freeform 59" id="59" descr="/home/claude/icons/widgets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38428" y="7200900"/>
            <a:ext cx="4504792" cy="576072"/>
            <a:chOff x="0" y="0"/>
            <a:chExt cx="6006389" cy="76809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Widget đa kích thước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38428" y="7776972"/>
            <a:ext cx="4504792" cy="891540"/>
            <a:chOff x="0" y="0"/>
            <a:chExt cx="6006389" cy="1188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kích cỡ hiển thị việc cần làm ngay màn hình chính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97803" y="5819775"/>
            <a:ext cx="5291938" cy="2967990"/>
            <a:chOff x="0" y="0"/>
            <a:chExt cx="7055917" cy="39573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6891376" y="6185916"/>
            <a:ext cx="822960" cy="822960"/>
            <a:chOff x="0" y="0"/>
            <a:chExt cx="1097280" cy="1097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083400" y="6377940"/>
            <a:ext cx="438912" cy="438912"/>
            <a:chOff x="0" y="0"/>
            <a:chExt cx="585216" cy="585216"/>
          </a:xfrm>
        </p:grpSpPr>
        <p:sp>
          <p:nvSpPr>
            <p:cNvPr name="Freeform 71" id="71" descr="/home/claude/icons/notif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891376" y="7200900"/>
            <a:ext cx="4504792" cy="576072"/>
            <a:chOff x="0" y="0"/>
            <a:chExt cx="6006389" cy="7680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Nhắc nhở thông minh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6891376" y="7776972"/>
            <a:ext cx="4504792" cy="891540"/>
            <a:chOff x="0" y="0"/>
            <a:chExt cx="6006389" cy="11887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Thông báo kèm âm thanh, tuỳ chỉnh thời gian nhắc trước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250750" y="5819775"/>
            <a:ext cx="5291938" cy="2967990"/>
            <a:chOff x="0" y="0"/>
            <a:chExt cx="7055917" cy="39573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055866" cy="3957320"/>
            </a:xfrm>
            <a:custGeom>
              <a:avLst/>
              <a:gdLst/>
              <a:ahLst/>
              <a:cxnLst/>
              <a:rect r="r" b="b" t="t" l="l"/>
              <a:pathLst>
                <a:path h="3957320" w="7055866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2644323" y="6185916"/>
            <a:ext cx="822960" cy="822960"/>
            <a:chOff x="0" y="0"/>
            <a:chExt cx="109728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836347" y="6377940"/>
            <a:ext cx="438912" cy="438912"/>
            <a:chOff x="0" y="0"/>
            <a:chExt cx="585216" cy="585216"/>
          </a:xfrm>
        </p:grpSpPr>
        <p:sp>
          <p:nvSpPr>
            <p:cNvPr name="Freeform 83" id="83" descr="/home/claude/icons/moon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644323" y="7200900"/>
            <a:ext cx="4504792" cy="576072"/>
            <a:chOff x="0" y="0"/>
            <a:chExt cx="6006389" cy="7680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006388" cy="768096"/>
            </a:xfrm>
            <a:custGeom>
              <a:avLst/>
              <a:gdLst/>
              <a:ahLst/>
              <a:cxnLst/>
              <a:rect r="r" b="b" t="t" l="l"/>
              <a:pathLst>
                <a:path h="768096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369" r="0" b="-10236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6006389" cy="815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Lịch Âm Dương Việt Nam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644323" y="7776972"/>
            <a:ext cx="4504792" cy="891540"/>
            <a:chOff x="0" y="0"/>
            <a:chExt cx="6006389" cy="11887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006388" cy="1188720"/>
            </a:xfrm>
            <a:custGeom>
              <a:avLst/>
              <a:gdLst/>
              <a:ahLst/>
              <a:cxnLst/>
              <a:rect r="r" b="b" t="t" l="l"/>
              <a:pathLst>
                <a:path h="1188720" w="6006388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4" r="0" b="-4845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0"/>
              <a:ext cx="6006389" cy="128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Chuyển đổi chính xác theo thuật toán thiên văn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cod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Công nghệ sử dụng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390775"/>
            <a:ext cx="3884562" cy="6259830"/>
            <a:chOff x="0" y="0"/>
            <a:chExt cx="5179416" cy="8346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79441" cy="8346440"/>
            </a:xfrm>
            <a:custGeom>
              <a:avLst/>
              <a:gdLst/>
              <a:ahLst/>
              <a:cxnLst/>
              <a:rect r="r" b="b" t="t" l="l"/>
              <a:pathLst>
                <a:path h="8346440" w="517944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248224" y="2811780"/>
            <a:ext cx="877824" cy="877824"/>
            <a:chOff x="0" y="0"/>
            <a:chExt cx="1170432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453964" y="3017520"/>
            <a:ext cx="466344" cy="466344"/>
            <a:chOff x="0" y="0"/>
            <a:chExt cx="621792" cy="621792"/>
          </a:xfrm>
        </p:grpSpPr>
        <p:sp>
          <p:nvSpPr>
            <p:cNvPr name="Freeform 23" id="23" descr="/home/claude/icons/code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51541" y="3905993"/>
            <a:ext cx="3271180" cy="8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Ngôn ngữ &amp; Giao diện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4124" y="4930616"/>
            <a:ext cx="3386023" cy="590360"/>
            <a:chOff x="0" y="0"/>
            <a:chExt cx="4514698" cy="7871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1268" y="4937760"/>
            <a:ext cx="3371736" cy="576072"/>
            <a:chOff x="0" y="0"/>
            <a:chExt cx="4495648" cy="7680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Kotlin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4124" y="5643848"/>
            <a:ext cx="3386023" cy="590360"/>
            <a:chOff x="0" y="0"/>
            <a:chExt cx="4514698" cy="7871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01268" y="5650992"/>
            <a:ext cx="3371736" cy="576072"/>
            <a:chOff x="0" y="0"/>
            <a:chExt cx="4495648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Jetpack Compose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4124" y="6357080"/>
            <a:ext cx="3386023" cy="590360"/>
            <a:chOff x="0" y="0"/>
            <a:chExt cx="4514698" cy="78714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01268" y="6364224"/>
            <a:ext cx="3371736" cy="576072"/>
            <a:chOff x="0" y="0"/>
            <a:chExt cx="4495648" cy="7680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Material 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94124" y="7070312"/>
            <a:ext cx="3386023" cy="590360"/>
            <a:chOff x="0" y="0"/>
            <a:chExt cx="4514698" cy="78714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1268" y="7077456"/>
            <a:ext cx="3371736" cy="576072"/>
            <a:chOff x="0" y="0"/>
            <a:chExt cx="4495648" cy="7680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Navigation Compose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049279" y="2390775"/>
            <a:ext cx="3884562" cy="6259830"/>
            <a:chOff x="0" y="0"/>
            <a:chExt cx="5179416" cy="8346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79441" cy="8346440"/>
            </a:xfrm>
            <a:custGeom>
              <a:avLst/>
              <a:gdLst/>
              <a:ahLst/>
              <a:cxnLst/>
              <a:rect r="r" b="b" t="t" l="l"/>
              <a:pathLst>
                <a:path h="8346440" w="517944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552648" y="2811780"/>
            <a:ext cx="877824" cy="877824"/>
            <a:chOff x="0" y="0"/>
            <a:chExt cx="1170432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758388" y="3017520"/>
            <a:ext cx="466344" cy="466344"/>
            <a:chOff x="0" y="0"/>
            <a:chExt cx="621792" cy="621792"/>
          </a:xfrm>
        </p:grpSpPr>
        <p:sp>
          <p:nvSpPr>
            <p:cNvPr name="Freeform 50" id="50" descr="/home/claude/icons/sync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5355965" y="3905993"/>
            <a:ext cx="3271180" cy="8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Xử lý bất đồng bộ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5298548" y="4930616"/>
            <a:ext cx="3386023" cy="590360"/>
            <a:chOff x="0" y="0"/>
            <a:chExt cx="4514698" cy="78714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305692" y="4937760"/>
            <a:ext cx="3371736" cy="576072"/>
            <a:chOff x="0" y="0"/>
            <a:chExt cx="4495648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Kotlin Coroutines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298548" y="5643848"/>
            <a:ext cx="3386023" cy="590360"/>
            <a:chOff x="0" y="0"/>
            <a:chExt cx="4514698" cy="78714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5305692" y="5650992"/>
            <a:ext cx="3371736" cy="576072"/>
            <a:chOff x="0" y="0"/>
            <a:chExt cx="4495648" cy="76809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Flow / StateFlow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353702" y="2390775"/>
            <a:ext cx="3884562" cy="6259830"/>
            <a:chOff x="0" y="0"/>
            <a:chExt cx="5179416" cy="8346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79441" cy="8346440"/>
            </a:xfrm>
            <a:custGeom>
              <a:avLst/>
              <a:gdLst/>
              <a:ahLst/>
              <a:cxnLst/>
              <a:rect r="r" b="b" t="t" l="l"/>
              <a:pathLst>
                <a:path h="8346440" w="517944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857071" y="2811780"/>
            <a:ext cx="877824" cy="877824"/>
            <a:chOff x="0" y="0"/>
            <a:chExt cx="1170432" cy="117043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062811" y="3017520"/>
            <a:ext cx="466344" cy="466344"/>
            <a:chOff x="0" y="0"/>
            <a:chExt cx="621792" cy="621792"/>
          </a:xfrm>
        </p:grpSpPr>
        <p:sp>
          <p:nvSpPr>
            <p:cNvPr name="Freeform 67" id="67" descr="/home/claude/icons/storage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9660388" y="3905993"/>
            <a:ext cx="3271180" cy="8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Lưu trữ dữ liệu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02972" y="4930616"/>
            <a:ext cx="3386023" cy="590360"/>
            <a:chOff x="0" y="0"/>
            <a:chExt cx="4514698" cy="78714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9610115" y="4937760"/>
            <a:ext cx="3371736" cy="576072"/>
            <a:chOff x="0" y="0"/>
            <a:chExt cx="4495648" cy="7680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Room Database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602972" y="5643848"/>
            <a:ext cx="3386023" cy="590360"/>
            <a:chOff x="0" y="0"/>
            <a:chExt cx="4514698" cy="78714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610115" y="5650992"/>
            <a:ext cx="3371736" cy="576072"/>
            <a:chOff x="0" y="0"/>
            <a:chExt cx="4495648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KSP Annotation Proc.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602972" y="6357080"/>
            <a:ext cx="3386023" cy="590360"/>
            <a:chOff x="0" y="0"/>
            <a:chExt cx="4514698" cy="78714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610115" y="6364224"/>
            <a:ext cx="3371736" cy="576072"/>
            <a:chOff x="0" y="0"/>
            <a:chExt cx="4495648" cy="7680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 bảng dữ liệu cục bộ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658126" y="2390775"/>
            <a:ext cx="3884562" cy="6259830"/>
            <a:chOff x="0" y="0"/>
            <a:chExt cx="5179416" cy="83464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79441" cy="8346440"/>
            </a:xfrm>
            <a:custGeom>
              <a:avLst/>
              <a:gdLst/>
              <a:ahLst/>
              <a:cxnLst/>
              <a:rect r="r" b="b" t="t" l="l"/>
              <a:pathLst>
                <a:path h="8346440" w="517944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15161495" y="2811780"/>
            <a:ext cx="877824" cy="877824"/>
            <a:chOff x="0" y="0"/>
            <a:chExt cx="1170432" cy="11704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70432" cy="1170432"/>
            </a:xfrm>
            <a:custGeom>
              <a:avLst/>
              <a:gdLst/>
              <a:ahLst/>
              <a:cxnLst/>
              <a:rect r="r" b="b" t="t" l="l"/>
              <a:pathLst>
                <a:path h="1170432" w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5367235" y="3017520"/>
            <a:ext cx="466344" cy="466344"/>
            <a:chOff x="0" y="0"/>
            <a:chExt cx="621792" cy="621792"/>
          </a:xfrm>
        </p:grpSpPr>
        <p:sp>
          <p:nvSpPr>
            <p:cNvPr name="Freeform 89" id="89" descr="/home/claude/icons/api.png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3964812" y="3905993"/>
            <a:ext cx="3271180" cy="8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Kết nối mạng &amp; AI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3907395" y="4930616"/>
            <a:ext cx="3386023" cy="590360"/>
            <a:chOff x="0" y="0"/>
            <a:chExt cx="4514698" cy="78714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3914539" y="4937760"/>
            <a:ext cx="3371736" cy="576072"/>
            <a:chOff x="0" y="0"/>
            <a:chExt cx="4495648" cy="7680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Retrofit2 + OkHttp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3907395" y="5643848"/>
            <a:ext cx="3386023" cy="590360"/>
            <a:chOff x="0" y="0"/>
            <a:chExt cx="4514698" cy="78714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3914539" y="5650992"/>
            <a:ext cx="3371736" cy="576072"/>
            <a:chOff x="0" y="0"/>
            <a:chExt cx="4495648" cy="7680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Moshi (JSON)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907395" y="6357080"/>
            <a:ext cx="3386023" cy="590360"/>
            <a:chOff x="0" y="0"/>
            <a:chExt cx="4514698" cy="78714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514723" cy="787146"/>
            </a:xfrm>
            <a:custGeom>
              <a:avLst/>
              <a:gdLst/>
              <a:ahLst/>
              <a:cxnLst/>
              <a:rect r="r" b="b" t="t" l="l"/>
              <a:pathLst>
                <a:path h="787146" w="4514723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914539" y="6364224"/>
            <a:ext cx="3371736" cy="576072"/>
            <a:chOff x="0" y="0"/>
            <a:chExt cx="4495648" cy="76809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95648" cy="768096"/>
            </a:xfrm>
            <a:custGeom>
              <a:avLst/>
              <a:gdLst/>
              <a:ahLst/>
              <a:cxnLst/>
              <a:rect r="r" b="b" t="t" l="l"/>
              <a:pathLst>
                <a:path h="768096" w="4495648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45" r="0" b="-6404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4495648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API (Firebase AI)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754380" y="8887968"/>
            <a:ext cx="16778783" cy="411480"/>
            <a:chOff x="0" y="0"/>
            <a:chExt cx="22371710" cy="5486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371710" cy="548640"/>
            </a:xfrm>
            <a:custGeom>
              <a:avLst/>
              <a:gdLst/>
              <a:ahLst/>
              <a:cxnLst/>
              <a:rect r="r" b="b" t="t" l="l"/>
              <a:pathLst>
                <a:path h="54864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534" r="0" b="-74453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2237171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compileSdk 36   •   minSdk 28   •   targetSdk 36   •   Kiến trúc MVVM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layers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Kiến trúc tổng thể — Mô hình MVVM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2221992"/>
            <a:ext cx="12663983" cy="1179576"/>
            <a:chOff x="0" y="0"/>
            <a:chExt cx="16885310" cy="15727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85286" cy="1572768"/>
            </a:xfrm>
            <a:custGeom>
              <a:avLst/>
              <a:gdLst/>
              <a:ahLst/>
              <a:cxnLst/>
              <a:rect r="r" b="b" t="t" l="l"/>
              <a:pathLst>
                <a:path h="1572768" w="1688528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0452" y="2304288"/>
            <a:ext cx="12060479" cy="411480"/>
            <a:chOff x="0" y="0"/>
            <a:chExt cx="16080638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80639" cy="548640"/>
            </a:xfrm>
            <a:custGeom>
              <a:avLst/>
              <a:gdLst/>
              <a:ahLst/>
              <a:cxnLst/>
              <a:rect r="r" b="b" t="t" l="l"/>
              <a:pathLst>
                <a:path h="548640" w="16080639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106" r="0" b="-5211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08063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Giao diện — View (Jetpack Compose)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0452" y="2743200"/>
            <a:ext cx="1604772" cy="493776"/>
            <a:chOff x="0" y="0"/>
            <a:chExt cx="2139696" cy="658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39696" cy="658368"/>
            </a:xfrm>
            <a:custGeom>
              <a:avLst/>
              <a:gdLst/>
              <a:ahLst/>
              <a:cxnLst/>
              <a:rect r="r" b="b" t="t" l="l"/>
              <a:pathLst>
                <a:path h="658368" w="2139696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810512" y="0"/>
                  </a:lnTo>
                  <a:cubicBezTo>
                    <a:pt x="1992376" y="0"/>
                    <a:pt x="2139696" y="147320"/>
                    <a:pt x="2139696" y="329184"/>
                  </a:cubicBezTo>
                  <a:cubicBezTo>
                    <a:pt x="2139696" y="511048"/>
                    <a:pt x="1992376" y="658368"/>
                    <a:pt x="1810512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0452" y="2743200"/>
            <a:ext cx="1604772" cy="493776"/>
            <a:chOff x="0" y="0"/>
            <a:chExt cx="2139696" cy="658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9696" cy="658368"/>
            </a:xfrm>
            <a:custGeom>
              <a:avLst/>
              <a:gdLst/>
              <a:ahLst/>
              <a:cxnLst/>
              <a:rect r="r" b="b" t="t" l="l"/>
              <a:pathLst>
                <a:path h="658368" w="2139696">
                  <a:moveTo>
                    <a:pt x="0" y="0"/>
                  </a:moveTo>
                  <a:lnTo>
                    <a:pt x="2139696" y="0"/>
                  </a:lnTo>
                  <a:lnTo>
                    <a:pt x="21396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39696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HomeScreen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127248" y="2743200"/>
            <a:ext cx="2054657" cy="493776"/>
            <a:chOff x="0" y="0"/>
            <a:chExt cx="2739542" cy="6583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39517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17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127248" y="2743200"/>
            <a:ext cx="2054657" cy="493776"/>
            <a:chOff x="0" y="0"/>
            <a:chExt cx="2739542" cy="6583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39542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42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9" r="0" b="-310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73954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CalendarScreen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373929" y="2743200"/>
            <a:ext cx="2054657" cy="493776"/>
            <a:chOff x="0" y="0"/>
            <a:chExt cx="2739542" cy="6583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39517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17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373929" y="2743200"/>
            <a:ext cx="2054657" cy="493776"/>
            <a:chOff x="0" y="0"/>
            <a:chExt cx="2739542" cy="6583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39542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42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9" r="0" b="-310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73954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AddEventScreen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20610" y="2743200"/>
            <a:ext cx="1440180" cy="493776"/>
            <a:chOff x="0" y="0"/>
            <a:chExt cx="1920240" cy="6583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20240" cy="658368"/>
            </a:xfrm>
            <a:custGeom>
              <a:avLst/>
              <a:gdLst/>
              <a:ahLst/>
              <a:cxnLst/>
              <a:rect r="r" b="b" t="t" l="l"/>
              <a:pathLst>
                <a:path h="658368" w="192024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591056" y="0"/>
                  </a:lnTo>
                  <a:cubicBezTo>
                    <a:pt x="1772920" y="0"/>
                    <a:pt x="1920240" y="147320"/>
                    <a:pt x="1920240" y="329184"/>
                  </a:cubicBezTo>
                  <a:cubicBezTo>
                    <a:pt x="1920240" y="511048"/>
                    <a:pt x="1772920" y="658368"/>
                    <a:pt x="159105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620610" y="2743200"/>
            <a:ext cx="1440180" cy="493776"/>
            <a:chOff x="0" y="0"/>
            <a:chExt cx="1920240" cy="6583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" cy="658368"/>
            </a:xfrm>
            <a:custGeom>
              <a:avLst/>
              <a:gdLst/>
              <a:ahLst/>
              <a:cxnLst/>
              <a:rect r="r" b="b" t="t" l="l"/>
              <a:pathLst>
                <a:path h="658368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1" r="0" b="-683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92024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AIScreen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252814" y="2743200"/>
            <a:ext cx="1717243" cy="493776"/>
            <a:chOff x="0" y="0"/>
            <a:chExt cx="2289658" cy="6583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9683" cy="658368"/>
            </a:xfrm>
            <a:custGeom>
              <a:avLst/>
              <a:gdLst/>
              <a:ahLst/>
              <a:cxnLst/>
              <a:rect r="r" b="b" t="t" l="l"/>
              <a:pathLst>
                <a:path h="658368" w="2289683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960499" y="0"/>
                  </a:lnTo>
                  <a:cubicBezTo>
                    <a:pt x="2142363" y="0"/>
                    <a:pt x="2289683" y="147320"/>
                    <a:pt x="2289683" y="329184"/>
                  </a:cubicBezTo>
                  <a:cubicBezTo>
                    <a:pt x="2289683" y="511048"/>
                    <a:pt x="2142363" y="658368"/>
                    <a:pt x="1960499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252814" y="2743200"/>
            <a:ext cx="1717243" cy="493776"/>
            <a:chOff x="0" y="0"/>
            <a:chExt cx="2289658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9658" cy="658368"/>
            </a:xfrm>
            <a:custGeom>
              <a:avLst/>
              <a:gdLst/>
              <a:ahLst/>
              <a:cxnLst/>
              <a:rect r="r" b="b" t="t" l="l"/>
              <a:pathLst>
                <a:path h="658368" w="2289658">
                  <a:moveTo>
                    <a:pt x="0" y="0"/>
                  </a:moveTo>
                  <a:lnTo>
                    <a:pt x="2289658" y="0"/>
                  </a:lnTo>
                  <a:lnTo>
                    <a:pt x="228965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64" r="0" b="-1776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289658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StatsScreen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162081" y="2743200"/>
            <a:ext cx="2054657" cy="493776"/>
            <a:chOff x="0" y="0"/>
            <a:chExt cx="2739542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9517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17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162081" y="2743200"/>
            <a:ext cx="2054657" cy="493776"/>
            <a:chOff x="0" y="0"/>
            <a:chExt cx="2739542" cy="6583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39542" cy="658368"/>
            </a:xfrm>
            <a:custGeom>
              <a:avLst/>
              <a:gdLst/>
              <a:ahLst/>
              <a:cxnLst/>
              <a:rect r="r" b="b" t="t" l="l"/>
              <a:pathLst>
                <a:path h="658368" w="2739542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9" r="0" b="-310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739542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SettingsScreen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209815" y="3429000"/>
            <a:ext cx="301752" cy="274320"/>
            <a:chOff x="0" y="0"/>
            <a:chExt cx="402336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" cy="365760"/>
            </a:xfrm>
            <a:custGeom>
              <a:avLst/>
              <a:gdLst/>
              <a:ahLst/>
              <a:cxnLst/>
              <a:rect r="r" b="b" t="t" l="l"/>
              <a:pathLst>
                <a:path h="365760" w="402336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28700" y="3703320"/>
            <a:ext cx="12663897" cy="1179452"/>
            <a:chOff x="0" y="0"/>
            <a:chExt cx="16885196" cy="157260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885286" cy="1572641"/>
            </a:xfrm>
            <a:custGeom>
              <a:avLst/>
              <a:gdLst/>
              <a:ahLst/>
              <a:cxnLst/>
              <a:rect r="r" b="b" t="t" l="l"/>
              <a:pathLst>
                <a:path h="1572641" w="1688528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185"/>
                  </a:lnTo>
                  <a:cubicBezTo>
                    <a:pt x="16885286" y="1474343"/>
                    <a:pt x="16786988" y="1572641"/>
                    <a:pt x="16665829" y="1572641"/>
                  </a:cubicBezTo>
                  <a:lnTo>
                    <a:pt x="219456" y="1572641"/>
                  </a:lnTo>
                  <a:cubicBezTo>
                    <a:pt x="98298" y="1572641"/>
                    <a:pt x="0" y="1474343"/>
                    <a:pt x="0" y="1353185"/>
                  </a:cubicBezTo>
                  <a:close/>
                </a:path>
              </a:pathLst>
            </a:custGeom>
            <a:solidFill>
              <a:srgbClr val="7662F5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99042" y="3799475"/>
            <a:ext cx="12060450" cy="411299"/>
            <a:chOff x="0" y="0"/>
            <a:chExt cx="16080600" cy="54839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080600" cy="548400"/>
            </a:xfrm>
            <a:custGeom>
              <a:avLst/>
              <a:gdLst/>
              <a:ahLst/>
              <a:cxnLst/>
              <a:rect r="r" b="b" t="t" l="l"/>
              <a:pathLst>
                <a:path h="548400" w="16080600">
                  <a:moveTo>
                    <a:pt x="0" y="0"/>
                  </a:moveTo>
                  <a:lnTo>
                    <a:pt x="16080600" y="0"/>
                  </a:lnTo>
                  <a:lnTo>
                    <a:pt x="160806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55" r="0" b="-52135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6080600" cy="586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ViewModel (StateFlow)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30452" y="4224528"/>
            <a:ext cx="2392070" cy="493776"/>
            <a:chOff x="0" y="0"/>
            <a:chExt cx="3189427" cy="65836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189478" cy="658368"/>
            </a:xfrm>
            <a:custGeom>
              <a:avLst/>
              <a:gdLst/>
              <a:ahLst/>
              <a:cxnLst/>
              <a:rect r="r" b="b" t="t" l="l"/>
              <a:pathLst>
                <a:path h="658368" w="318947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860294" y="0"/>
                  </a:lnTo>
                  <a:cubicBezTo>
                    <a:pt x="3042158" y="0"/>
                    <a:pt x="3189478" y="147320"/>
                    <a:pt x="3189478" y="329184"/>
                  </a:cubicBezTo>
                  <a:cubicBezTo>
                    <a:pt x="3189478" y="511048"/>
                    <a:pt x="3042158" y="658368"/>
                    <a:pt x="2860294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330452" y="4224528"/>
            <a:ext cx="2392070" cy="493776"/>
            <a:chOff x="0" y="0"/>
            <a:chExt cx="3189427" cy="65836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89428" cy="658368"/>
            </a:xfrm>
            <a:custGeom>
              <a:avLst/>
              <a:gdLst/>
              <a:ahLst/>
              <a:cxnLst/>
              <a:rect r="r" b="b" t="t" l="l"/>
              <a:pathLst>
                <a:path h="658368" w="3189428">
                  <a:moveTo>
                    <a:pt x="0" y="0"/>
                  </a:moveTo>
                  <a:lnTo>
                    <a:pt x="3189428" y="0"/>
                  </a:lnTo>
                  <a:lnTo>
                    <a:pt x="31894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394" r="0" b="-4439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189427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7662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ScheduleViewModel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914546" y="4224528"/>
            <a:ext cx="2504542" cy="493776"/>
            <a:chOff x="0" y="0"/>
            <a:chExt cx="3339389" cy="65836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339338" cy="658368"/>
            </a:xfrm>
            <a:custGeom>
              <a:avLst/>
              <a:gdLst/>
              <a:ahLst/>
              <a:cxnLst/>
              <a:rect r="r" b="b" t="t" l="l"/>
              <a:pathLst>
                <a:path h="658368" w="333933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010154" y="0"/>
                  </a:lnTo>
                  <a:cubicBezTo>
                    <a:pt x="3192018" y="0"/>
                    <a:pt x="3339338" y="147320"/>
                    <a:pt x="3339338" y="329184"/>
                  </a:cubicBezTo>
                  <a:cubicBezTo>
                    <a:pt x="3339338" y="511048"/>
                    <a:pt x="3192018" y="658368"/>
                    <a:pt x="3010154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914546" y="4224528"/>
            <a:ext cx="2504542" cy="493776"/>
            <a:chOff x="0" y="0"/>
            <a:chExt cx="3339389" cy="658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39388" cy="658368"/>
            </a:xfrm>
            <a:custGeom>
              <a:avLst/>
              <a:gdLst/>
              <a:ahLst/>
              <a:cxnLst/>
              <a:rect r="r" b="b" t="t" l="l"/>
              <a:pathLst>
                <a:path h="658368" w="3339388">
                  <a:moveTo>
                    <a:pt x="0" y="0"/>
                  </a:moveTo>
                  <a:lnTo>
                    <a:pt x="3339388" y="0"/>
                  </a:lnTo>
                  <a:lnTo>
                    <a:pt x="333938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32" r="0" b="-4883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339389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7662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DashboardViewModel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611112" y="4224528"/>
            <a:ext cx="2167128" cy="493776"/>
            <a:chOff x="0" y="0"/>
            <a:chExt cx="2889504" cy="6583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889504" cy="658368"/>
            </a:xfrm>
            <a:custGeom>
              <a:avLst/>
              <a:gdLst/>
              <a:ahLst/>
              <a:cxnLst/>
              <a:rect r="r" b="b" t="t" l="l"/>
              <a:pathLst>
                <a:path h="658368" w="2889504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60320" y="0"/>
                  </a:lnTo>
                  <a:cubicBezTo>
                    <a:pt x="2742184" y="0"/>
                    <a:pt x="2889504" y="147320"/>
                    <a:pt x="2889504" y="329184"/>
                  </a:cubicBezTo>
                  <a:cubicBezTo>
                    <a:pt x="2889504" y="511048"/>
                    <a:pt x="2742184" y="658368"/>
                    <a:pt x="256032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6611150" y="4238254"/>
            <a:ext cx="2167204" cy="493652"/>
            <a:chOff x="0" y="0"/>
            <a:chExt cx="2889606" cy="65820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889600" cy="658200"/>
            </a:xfrm>
            <a:custGeom>
              <a:avLst/>
              <a:gdLst/>
              <a:ahLst/>
              <a:cxnLst/>
              <a:rect r="r" b="b" t="t" l="l"/>
              <a:pathLst>
                <a:path h="658200" w="2889600">
                  <a:moveTo>
                    <a:pt x="0" y="0"/>
                  </a:moveTo>
                  <a:lnTo>
                    <a:pt x="2889600" y="0"/>
                  </a:lnTo>
                  <a:lnTo>
                    <a:pt x="2889600" y="658200"/>
                  </a:lnTo>
                  <a:lnTo>
                    <a:pt x="0" y="65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42" r="0" b="-3554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889606" cy="696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7662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AIChatViewModel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209815" y="4910328"/>
            <a:ext cx="301752" cy="274320"/>
            <a:chOff x="0" y="0"/>
            <a:chExt cx="402336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2336" cy="365760"/>
            </a:xfrm>
            <a:custGeom>
              <a:avLst/>
              <a:gdLst/>
              <a:ahLst/>
              <a:cxnLst/>
              <a:rect r="r" b="b" t="t" l="l"/>
              <a:pathLst>
                <a:path h="365760" w="402336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28700" y="5184648"/>
            <a:ext cx="12663983" cy="1179576"/>
            <a:chOff x="0" y="0"/>
            <a:chExt cx="16885310" cy="157276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885286" cy="1572768"/>
            </a:xfrm>
            <a:custGeom>
              <a:avLst/>
              <a:gdLst/>
              <a:ahLst/>
              <a:cxnLst/>
              <a:rect r="r" b="b" t="t" l="l"/>
              <a:pathLst>
                <a:path h="1572768" w="1688528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8C7DF0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30452" y="5266944"/>
            <a:ext cx="12060479" cy="411480"/>
            <a:chOff x="0" y="0"/>
            <a:chExt cx="16080638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080639" cy="548640"/>
            </a:xfrm>
            <a:custGeom>
              <a:avLst/>
              <a:gdLst/>
              <a:ahLst/>
              <a:cxnLst/>
              <a:rect r="r" b="b" t="t" l="l"/>
              <a:pathLst>
                <a:path h="548640" w="16080639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106" r="0" b="-52110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608063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Repository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30452" y="5705856"/>
            <a:ext cx="2167128" cy="493776"/>
            <a:chOff x="0" y="0"/>
            <a:chExt cx="2889504" cy="6583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889504" cy="658368"/>
            </a:xfrm>
            <a:custGeom>
              <a:avLst/>
              <a:gdLst/>
              <a:ahLst/>
              <a:cxnLst/>
              <a:rect r="r" b="b" t="t" l="l"/>
              <a:pathLst>
                <a:path h="658368" w="2889504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60320" y="0"/>
                  </a:lnTo>
                  <a:cubicBezTo>
                    <a:pt x="2742184" y="0"/>
                    <a:pt x="2889504" y="147320"/>
                    <a:pt x="2889504" y="329184"/>
                  </a:cubicBezTo>
                  <a:cubicBezTo>
                    <a:pt x="2889504" y="511048"/>
                    <a:pt x="2742184" y="658368"/>
                    <a:pt x="256032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30452" y="5705856"/>
            <a:ext cx="2167128" cy="493776"/>
            <a:chOff x="0" y="0"/>
            <a:chExt cx="2889504" cy="6583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89504" cy="658368"/>
            </a:xfrm>
            <a:custGeom>
              <a:avLst/>
              <a:gdLst/>
              <a:ahLst/>
              <a:cxnLst/>
              <a:rect r="r" b="b" t="t" l="l"/>
              <a:pathLst>
                <a:path h="658368" w="2889504">
                  <a:moveTo>
                    <a:pt x="0" y="0"/>
                  </a:moveTo>
                  <a:lnTo>
                    <a:pt x="2889504" y="0"/>
                  </a:lnTo>
                  <a:lnTo>
                    <a:pt x="288950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17" r="0" b="-3551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889504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8C7D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EventRepository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3689604" y="5705856"/>
            <a:ext cx="2617013" cy="493776"/>
            <a:chOff x="0" y="0"/>
            <a:chExt cx="3489350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489325" cy="658368"/>
            </a:xfrm>
            <a:custGeom>
              <a:avLst/>
              <a:gdLst/>
              <a:ahLst/>
              <a:cxnLst/>
              <a:rect r="r" b="b" t="t" l="l"/>
              <a:pathLst>
                <a:path h="658368" w="3489325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160141" y="0"/>
                  </a:lnTo>
                  <a:cubicBezTo>
                    <a:pt x="3342005" y="0"/>
                    <a:pt x="3489325" y="147320"/>
                    <a:pt x="3489325" y="329184"/>
                  </a:cubicBezTo>
                  <a:cubicBezTo>
                    <a:pt x="3489325" y="511048"/>
                    <a:pt x="3342005" y="658368"/>
                    <a:pt x="3160141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3689604" y="5705856"/>
            <a:ext cx="2617013" cy="493776"/>
            <a:chOff x="0" y="0"/>
            <a:chExt cx="3489350" cy="65836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489350" cy="658368"/>
            </a:xfrm>
            <a:custGeom>
              <a:avLst/>
              <a:gdLst/>
              <a:ahLst/>
              <a:cxnLst/>
              <a:rect r="r" b="b" t="t" l="l"/>
              <a:pathLst>
                <a:path h="658368" w="3489350">
                  <a:moveTo>
                    <a:pt x="0" y="0"/>
                  </a:moveTo>
                  <a:lnTo>
                    <a:pt x="3489350" y="0"/>
                  </a:lnTo>
                  <a:lnTo>
                    <a:pt x="34893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4893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8C7D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DashboardRepository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7209815" y="6391656"/>
            <a:ext cx="301752" cy="274320"/>
            <a:chOff x="0" y="0"/>
            <a:chExt cx="402336" cy="3657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02336" cy="365760"/>
            </a:xfrm>
            <a:custGeom>
              <a:avLst/>
              <a:gdLst/>
              <a:ahLst/>
              <a:cxnLst/>
              <a:rect r="r" b="b" t="t" l="l"/>
              <a:pathLst>
                <a:path h="365760" w="402336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28700" y="6665976"/>
            <a:ext cx="12663983" cy="1179576"/>
            <a:chOff x="0" y="0"/>
            <a:chExt cx="16885310" cy="157276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6885286" cy="1572768"/>
            </a:xfrm>
            <a:custGeom>
              <a:avLst/>
              <a:gdLst/>
              <a:ahLst/>
              <a:cxnLst/>
              <a:rect r="r" b="b" t="t" l="l"/>
              <a:pathLst>
                <a:path h="1572768" w="16885286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A79EE8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30452" y="6748272"/>
            <a:ext cx="12060479" cy="411480"/>
            <a:chOff x="0" y="0"/>
            <a:chExt cx="16080638" cy="5486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6080639" cy="548640"/>
            </a:xfrm>
            <a:custGeom>
              <a:avLst/>
              <a:gdLst/>
              <a:ahLst/>
              <a:cxnLst/>
              <a:rect r="r" b="b" t="t" l="l"/>
              <a:pathLst>
                <a:path h="548640" w="16080639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106" r="0" b="-52110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6080638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Dữ liệu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330452" y="7187184"/>
            <a:ext cx="2954426" cy="493776"/>
            <a:chOff x="0" y="0"/>
            <a:chExt cx="3939235" cy="6583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939286" cy="658368"/>
            </a:xfrm>
            <a:custGeom>
              <a:avLst/>
              <a:gdLst/>
              <a:ahLst/>
              <a:cxnLst/>
              <a:rect r="r" b="b" t="t" l="l"/>
              <a:pathLst>
                <a:path h="658368" w="3939286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610102" y="0"/>
                  </a:lnTo>
                  <a:cubicBezTo>
                    <a:pt x="3791966" y="0"/>
                    <a:pt x="3939286" y="147320"/>
                    <a:pt x="3939286" y="329184"/>
                  </a:cubicBezTo>
                  <a:cubicBezTo>
                    <a:pt x="3939286" y="511048"/>
                    <a:pt x="3791966" y="658368"/>
                    <a:pt x="3610102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30452" y="7187184"/>
            <a:ext cx="2954426" cy="493776"/>
            <a:chOff x="0" y="0"/>
            <a:chExt cx="3939235" cy="65836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39236" cy="658368"/>
            </a:xfrm>
            <a:custGeom>
              <a:avLst/>
              <a:gdLst/>
              <a:ahLst/>
              <a:cxnLst/>
              <a:rect r="r" b="b" t="t" l="l"/>
              <a:pathLst>
                <a:path h="658368" w="3939236">
                  <a:moveTo>
                    <a:pt x="0" y="0"/>
                  </a:moveTo>
                  <a:lnTo>
                    <a:pt x="3939236" y="0"/>
                  </a:lnTo>
                  <a:lnTo>
                    <a:pt x="393923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585" r="0" b="-6658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3939235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A79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Room Database (cục bộ)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476902" y="7187184"/>
            <a:ext cx="4978908" cy="493776"/>
            <a:chOff x="0" y="0"/>
            <a:chExt cx="6638544" cy="65836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638544" cy="658368"/>
            </a:xfrm>
            <a:custGeom>
              <a:avLst/>
              <a:gdLst/>
              <a:ahLst/>
              <a:cxnLst/>
              <a:rect r="r" b="b" t="t" l="l"/>
              <a:pathLst>
                <a:path h="658368" w="6638544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6309360" y="0"/>
                  </a:lnTo>
                  <a:cubicBezTo>
                    <a:pt x="6491224" y="0"/>
                    <a:pt x="6638544" y="147320"/>
                    <a:pt x="6638544" y="329184"/>
                  </a:cubicBezTo>
                  <a:cubicBezTo>
                    <a:pt x="6638544" y="511048"/>
                    <a:pt x="6491224" y="658368"/>
                    <a:pt x="630936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4476902" y="7187184"/>
            <a:ext cx="4978908" cy="493776"/>
            <a:chOff x="0" y="0"/>
            <a:chExt cx="6638544" cy="6583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638544" cy="658368"/>
            </a:xfrm>
            <a:custGeom>
              <a:avLst/>
              <a:gdLst/>
              <a:ahLst/>
              <a:cxnLst/>
              <a:rect r="r" b="b" t="t" l="l"/>
              <a:pathLst>
                <a:path h="658368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474" r="0" b="-14647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638544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A79E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Retrofit API: Weather / Holiday / Gemini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4104163" y="2221992"/>
            <a:ext cx="3703320" cy="5623560"/>
            <a:chOff x="0" y="0"/>
            <a:chExt cx="4937760" cy="74980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937760" cy="7498080"/>
            </a:xfrm>
            <a:custGeom>
              <a:avLst/>
              <a:gdLst/>
              <a:ahLst/>
              <a:cxnLst/>
              <a:rect r="r" b="b" t="t" l="l"/>
              <a:pathLst>
                <a:path h="7498080" w="49377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718304" y="0"/>
                  </a:lnTo>
                  <a:cubicBezTo>
                    <a:pt x="4839462" y="0"/>
                    <a:pt x="4937760" y="98298"/>
                    <a:pt x="4937760" y="219456"/>
                  </a:cubicBezTo>
                  <a:lnTo>
                    <a:pt x="4937760" y="7278624"/>
                  </a:lnTo>
                  <a:cubicBezTo>
                    <a:pt x="4937760" y="7399782"/>
                    <a:pt x="4839462" y="7498080"/>
                    <a:pt x="4718304" y="7498080"/>
                  </a:cubicBezTo>
                  <a:lnTo>
                    <a:pt x="219456" y="7498080"/>
                  </a:lnTo>
                  <a:cubicBezTo>
                    <a:pt x="98298" y="7498080"/>
                    <a:pt x="0" y="7399782"/>
                    <a:pt x="0" y="7278624"/>
                  </a:cubicBezTo>
                  <a:close/>
                </a:path>
              </a:pathLst>
            </a:custGeom>
            <a:solidFill>
              <a:srgbClr val="1C144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599207" y="2523744"/>
            <a:ext cx="713232" cy="713232"/>
            <a:chOff x="0" y="0"/>
            <a:chExt cx="950976" cy="95097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7662F5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5763799" y="2688336"/>
            <a:ext cx="384048" cy="384048"/>
            <a:chOff x="0" y="0"/>
            <a:chExt cx="512064" cy="512064"/>
          </a:xfrm>
        </p:grpSpPr>
        <p:sp>
          <p:nvSpPr>
            <p:cNvPr name="Freeform 114" id="114" descr="/home/claude/icons/widgets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309903" y="3346704"/>
            <a:ext cx="3291840" cy="411480"/>
            <a:chOff x="0" y="0"/>
            <a:chExt cx="4389120" cy="5486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89120" cy="548640"/>
            </a:xfrm>
            <a:custGeom>
              <a:avLst/>
              <a:gdLst/>
              <a:ahLst/>
              <a:cxnLst/>
              <a:rect r="r" b="b" t="t" l="l"/>
              <a:pathLst>
                <a:path h="5486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3891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Hệ thống nền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4378483" y="3867912"/>
            <a:ext cx="3154680" cy="3771900"/>
            <a:chOff x="0" y="0"/>
            <a:chExt cx="4206240" cy="50292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206240" cy="5029200"/>
            </a:xfrm>
            <a:custGeom>
              <a:avLst/>
              <a:gdLst/>
              <a:ahLst/>
              <a:cxnLst/>
              <a:rect r="r" b="b" t="t" l="l"/>
              <a:pathLst>
                <a:path h="5029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029200"/>
                  </a:lnTo>
                  <a:lnTo>
                    <a:pt x="0" y="502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406" t="0" r="-103406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0"/>
              <a:ext cx="4206240" cy="512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71462" indent="-135731" lvl="1">
                <a:lnSpc>
                  <a:spcPts val="2430"/>
                </a:lnSpc>
                <a:buFont typeface="Arial"/>
                <a:buChar char="•"/>
              </a:pPr>
              <a:r>
                <a:rPr lang="en-US" sz="1500">
                  <a:solidFill>
                    <a:srgbClr val="D9D3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Widget Providers</a:t>
              </a:r>
            </a:p>
            <a:p>
              <a:pPr algn="l" marL="271462" indent="-135731" lvl="1">
                <a:lnSpc>
                  <a:spcPts val="2430"/>
                </a:lnSpc>
                <a:buFont typeface="Arial"/>
                <a:buChar char="•"/>
              </a:pPr>
              <a:r>
                <a:rPr lang="en-US" sz="1500">
                  <a:solidFill>
                    <a:srgbClr val="D9D3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AlarmManager &amp; NotificationReceiver</a:t>
              </a:r>
            </a:p>
            <a:p>
              <a:pPr algn="l" marL="271462" indent="-135731" lvl="1">
                <a:lnSpc>
                  <a:spcPts val="2430"/>
                </a:lnSpc>
                <a:buFont typeface="Arial"/>
                <a:buChar char="•"/>
              </a:pPr>
              <a:r>
                <a:rPr lang="en-US" sz="1500">
                  <a:solidFill>
                    <a:srgbClr val="D9D3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Đọc trực tiếp từ Repository / Room — hoạt động độc lập, không qua UI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2698225" y="2852985"/>
            <a:ext cx="1337396" cy="493652"/>
            <a:chOff x="0" y="0"/>
            <a:chExt cx="1783194" cy="658203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783200" cy="658200"/>
            </a:xfrm>
            <a:custGeom>
              <a:avLst/>
              <a:gdLst/>
              <a:ahLst/>
              <a:cxnLst/>
              <a:rect r="r" b="b" t="t" l="l"/>
              <a:pathLst>
                <a:path h="658200" w="1783200">
                  <a:moveTo>
                    <a:pt x="0" y="0"/>
                  </a:moveTo>
                  <a:lnTo>
                    <a:pt x="1783200" y="0"/>
                  </a:lnTo>
                  <a:lnTo>
                    <a:pt x="1783200" y="658200"/>
                  </a:lnTo>
                  <a:lnTo>
                    <a:pt x="0" y="65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8" r="0" b="-278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783194" cy="696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….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8970378" y="4224604"/>
            <a:ext cx="2844898" cy="493652"/>
            <a:chOff x="0" y="0"/>
            <a:chExt cx="3793198" cy="658203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793109" cy="658114"/>
            </a:xfrm>
            <a:custGeom>
              <a:avLst/>
              <a:gdLst/>
              <a:ahLst/>
              <a:cxnLst/>
              <a:rect r="r" b="b" t="t" l="l"/>
              <a:pathLst>
                <a:path h="658114" w="3793109">
                  <a:moveTo>
                    <a:pt x="0" y="329057"/>
                  </a:moveTo>
                  <a:cubicBezTo>
                    <a:pt x="0" y="147320"/>
                    <a:pt x="147320" y="0"/>
                    <a:pt x="329057" y="0"/>
                  </a:cubicBezTo>
                  <a:lnTo>
                    <a:pt x="3464052" y="0"/>
                  </a:lnTo>
                  <a:cubicBezTo>
                    <a:pt x="3645789" y="0"/>
                    <a:pt x="3793109" y="147320"/>
                    <a:pt x="3793109" y="329057"/>
                  </a:cubicBezTo>
                  <a:cubicBezTo>
                    <a:pt x="3793109" y="510794"/>
                    <a:pt x="3645789" y="658114"/>
                    <a:pt x="3464052" y="658114"/>
                  </a:cubicBezTo>
                  <a:lnTo>
                    <a:pt x="329057" y="658114"/>
                  </a:lnTo>
                  <a:cubicBezTo>
                    <a:pt x="147320" y="658241"/>
                    <a:pt x="0" y="510794"/>
                    <a:pt x="0" y="329057"/>
                  </a:cubicBezTo>
                  <a:close/>
                </a:path>
              </a:pathLst>
            </a:custGeom>
            <a:solidFill>
              <a:srgbClr val="FFFFFF">
                <a:alpha val="84706"/>
              </a:srgbClr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8831218" y="4224585"/>
            <a:ext cx="3135154" cy="493652"/>
            <a:chOff x="0" y="0"/>
            <a:chExt cx="4180205" cy="658203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180200" cy="658200"/>
            </a:xfrm>
            <a:custGeom>
              <a:avLst/>
              <a:gdLst/>
              <a:ahLst/>
              <a:cxnLst/>
              <a:rect r="r" b="b" t="t" l="l"/>
              <a:pathLst>
                <a:path h="658200" w="4180200">
                  <a:moveTo>
                    <a:pt x="0" y="0"/>
                  </a:moveTo>
                  <a:lnTo>
                    <a:pt x="4180200" y="0"/>
                  </a:lnTo>
                  <a:lnTo>
                    <a:pt x="4180200" y="658200"/>
                  </a:lnTo>
                  <a:lnTo>
                    <a:pt x="0" y="65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48" r="0" b="-7374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4180205" cy="696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b="true" sz="1425">
                  <a:solidFill>
                    <a:srgbClr val="7662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AIWeeklyReviewViewModel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tre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Mô hình dữ liệu — Room Database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0093" y="2523172"/>
            <a:ext cx="3526155" cy="2154555"/>
            <a:chOff x="0" y="0"/>
            <a:chExt cx="4701540" cy="2872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01540" cy="2872740"/>
            </a:xfrm>
            <a:custGeom>
              <a:avLst/>
              <a:gdLst/>
              <a:ahLst/>
              <a:cxnLst/>
              <a:rect r="r" b="b" t="t" l="l"/>
              <a:pathLst>
                <a:path h="2872740" w="470154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4516247" y="0"/>
                  </a:lnTo>
                  <a:cubicBezTo>
                    <a:pt x="4618609" y="0"/>
                    <a:pt x="4701540" y="82931"/>
                    <a:pt x="4701540" y="185293"/>
                  </a:cubicBezTo>
                  <a:lnTo>
                    <a:pt x="4701540" y="2687447"/>
                  </a:lnTo>
                  <a:cubicBezTo>
                    <a:pt x="4701540" y="2789809"/>
                    <a:pt x="4618609" y="2872740"/>
                    <a:pt x="4516247" y="2872740"/>
                  </a:cubicBezTo>
                  <a:lnTo>
                    <a:pt x="185293" y="2872740"/>
                  </a:lnTo>
                  <a:cubicBezTo>
                    <a:pt x="82931" y="2872740"/>
                    <a:pt x="0" y="2789809"/>
                    <a:pt x="0" y="268744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285F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" y="2537460"/>
            <a:ext cx="3497580" cy="466344"/>
            <a:chOff x="0" y="0"/>
            <a:chExt cx="4663440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63440" cy="621792"/>
            </a:xfrm>
            <a:custGeom>
              <a:avLst/>
              <a:gdLst/>
              <a:ahLst/>
              <a:cxnLst/>
              <a:rect r="r" b="b" t="t" l="l"/>
              <a:pathLst>
                <a:path h="621792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54380" y="2770632"/>
            <a:ext cx="3497580" cy="233172"/>
            <a:chOff x="0" y="0"/>
            <a:chExt cx="4663440" cy="310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63440" cy="310896"/>
            </a:xfrm>
            <a:custGeom>
              <a:avLst/>
              <a:gdLst/>
              <a:ahLst/>
              <a:cxnLst/>
              <a:rect r="r" b="b" t="t" l="l"/>
              <a:pathLst>
                <a:path h="310896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1540" y="2537460"/>
            <a:ext cx="3223260" cy="466344"/>
            <a:chOff x="0" y="0"/>
            <a:chExt cx="4297680" cy="621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97680" cy="621792"/>
            </a:xfrm>
            <a:custGeom>
              <a:avLst/>
              <a:gdLst/>
              <a:ahLst/>
              <a:cxnLst/>
              <a:rect r="r" b="b" t="t" l="l"/>
              <a:pathLst>
                <a:path h="62179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2976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BoardEntity (Danh mục)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10393" y="3074651"/>
            <a:ext cx="2985545" cy="143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id, name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colorHex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isVisible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sortOrder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97792" y="2386012"/>
            <a:ext cx="4211955" cy="3251835"/>
            <a:chOff x="0" y="0"/>
            <a:chExt cx="5615940" cy="43357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15940" cy="4335780"/>
            </a:xfrm>
            <a:custGeom>
              <a:avLst/>
              <a:gdLst/>
              <a:ahLst/>
              <a:cxnLst/>
              <a:rect r="r" b="b" t="t" l="l"/>
              <a:pathLst>
                <a:path h="4335780" w="5615940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5431409" y="0"/>
                  </a:lnTo>
                  <a:cubicBezTo>
                    <a:pt x="5533263" y="0"/>
                    <a:pt x="5615940" y="82550"/>
                    <a:pt x="5615940" y="184531"/>
                  </a:cubicBezTo>
                  <a:lnTo>
                    <a:pt x="5615940" y="4151249"/>
                  </a:lnTo>
                  <a:cubicBezTo>
                    <a:pt x="5615940" y="4253103"/>
                    <a:pt x="5533390" y="4335780"/>
                    <a:pt x="5431409" y="4335780"/>
                  </a:cubicBezTo>
                  <a:lnTo>
                    <a:pt x="184531" y="4335780"/>
                  </a:lnTo>
                  <a:cubicBezTo>
                    <a:pt x="82550" y="4335780"/>
                    <a:pt x="0" y="4253230"/>
                    <a:pt x="0" y="415124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5B42F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212080" y="2400300"/>
            <a:ext cx="4183380" cy="466344"/>
            <a:chOff x="0" y="0"/>
            <a:chExt cx="5577840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77840" cy="621792"/>
            </a:xfrm>
            <a:custGeom>
              <a:avLst/>
              <a:gdLst/>
              <a:ahLst/>
              <a:cxnLst/>
              <a:rect r="r" b="b" t="t" l="l"/>
              <a:pathLst>
                <a:path h="621792" w="5577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394960" y="0"/>
                  </a:lnTo>
                  <a:cubicBezTo>
                    <a:pt x="5495925" y="0"/>
                    <a:pt x="5577840" y="81915"/>
                    <a:pt x="5577840" y="182880"/>
                  </a:cubicBezTo>
                  <a:lnTo>
                    <a:pt x="5577840" y="438912"/>
                  </a:lnTo>
                  <a:cubicBezTo>
                    <a:pt x="5577840" y="539877"/>
                    <a:pt x="5495925" y="621792"/>
                    <a:pt x="53949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212080" y="2633472"/>
            <a:ext cx="4183380" cy="233172"/>
            <a:chOff x="0" y="0"/>
            <a:chExt cx="5577840" cy="3108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577840" cy="310896"/>
            </a:xfrm>
            <a:custGeom>
              <a:avLst/>
              <a:gdLst/>
              <a:ahLst/>
              <a:cxnLst/>
              <a:rect r="r" b="b" t="t" l="l"/>
              <a:pathLst>
                <a:path h="310896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349240" y="2400300"/>
            <a:ext cx="3909060" cy="466344"/>
            <a:chOff x="0" y="0"/>
            <a:chExt cx="5212080" cy="62179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621792"/>
            </a:xfrm>
            <a:custGeom>
              <a:avLst/>
              <a:gdLst/>
              <a:ahLst/>
              <a:cxnLst/>
              <a:rect r="r" b="b" t="t" l="l"/>
              <a:pathLst>
                <a:path h="621792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30" r="0" b="-1133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2120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EventEntity (Sự kiện)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468093" y="2937491"/>
            <a:ext cx="3671345" cy="253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id, title, boardId (FK)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startDate, startTime, endTime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repeatRule (NONE/DAILY/…)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isCompleted, hasReminder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341293" y="2180272"/>
            <a:ext cx="3526155" cy="1948815"/>
            <a:chOff x="0" y="0"/>
            <a:chExt cx="4701540" cy="25984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01540" cy="2598420"/>
            </a:xfrm>
            <a:custGeom>
              <a:avLst/>
              <a:gdLst/>
              <a:ahLst/>
              <a:cxnLst/>
              <a:rect r="r" b="b" t="t" l="l"/>
              <a:pathLst>
                <a:path h="2598420" w="470154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515993" y="0"/>
                  </a:lnTo>
                  <a:cubicBezTo>
                    <a:pt x="4618482" y="0"/>
                    <a:pt x="4701540" y="83058"/>
                    <a:pt x="4701540" y="185547"/>
                  </a:cubicBezTo>
                  <a:lnTo>
                    <a:pt x="4701540" y="2412873"/>
                  </a:lnTo>
                  <a:cubicBezTo>
                    <a:pt x="4701540" y="2515362"/>
                    <a:pt x="4618482" y="2598420"/>
                    <a:pt x="4515993" y="2598420"/>
                  </a:cubicBezTo>
                  <a:lnTo>
                    <a:pt x="185547" y="2598420"/>
                  </a:lnTo>
                  <a:cubicBezTo>
                    <a:pt x="83058" y="2598420"/>
                    <a:pt x="0" y="2515362"/>
                    <a:pt x="0" y="241287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9AB0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355580" y="2194560"/>
            <a:ext cx="3497580" cy="466344"/>
            <a:chOff x="0" y="0"/>
            <a:chExt cx="4663440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63440" cy="621792"/>
            </a:xfrm>
            <a:custGeom>
              <a:avLst/>
              <a:gdLst/>
              <a:ahLst/>
              <a:cxnLst/>
              <a:rect r="r" b="b" t="t" l="l"/>
              <a:pathLst>
                <a:path h="621792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355580" y="2427732"/>
            <a:ext cx="3497580" cy="233172"/>
            <a:chOff x="0" y="0"/>
            <a:chExt cx="4663440" cy="3108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663440" cy="310896"/>
            </a:xfrm>
            <a:custGeom>
              <a:avLst/>
              <a:gdLst/>
              <a:ahLst/>
              <a:cxnLst/>
              <a:rect r="r" b="b" t="t" l="l"/>
              <a:pathLst>
                <a:path h="310896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492740" y="2194560"/>
            <a:ext cx="3223260" cy="466344"/>
            <a:chOff x="0" y="0"/>
            <a:chExt cx="4297680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621792"/>
            </a:xfrm>
            <a:custGeom>
              <a:avLst/>
              <a:gdLst/>
              <a:ahLst/>
              <a:cxnLst/>
              <a:rect r="r" b="b" t="t" l="l"/>
              <a:pathLst>
                <a:path h="62179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2976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ReminderEntity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611593" y="2731751"/>
            <a:ext cx="2985545" cy="122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id, eventId (FK)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remindBeforeMinutes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isTriggered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341293" y="4580572"/>
            <a:ext cx="3526155" cy="1948815"/>
            <a:chOff x="0" y="0"/>
            <a:chExt cx="4701540" cy="25984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01540" cy="2598420"/>
            </a:xfrm>
            <a:custGeom>
              <a:avLst/>
              <a:gdLst/>
              <a:ahLst/>
              <a:cxnLst/>
              <a:rect r="r" b="b" t="t" l="l"/>
              <a:pathLst>
                <a:path h="2598420" w="470154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515993" y="0"/>
                  </a:lnTo>
                  <a:cubicBezTo>
                    <a:pt x="4618482" y="0"/>
                    <a:pt x="4701540" y="83058"/>
                    <a:pt x="4701540" y="185547"/>
                  </a:cubicBezTo>
                  <a:lnTo>
                    <a:pt x="4701540" y="2412873"/>
                  </a:lnTo>
                  <a:cubicBezTo>
                    <a:pt x="4701540" y="2515362"/>
                    <a:pt x="4618482" y="2598420"/>
                    <a:pt x="4515993" y="2598420"/>
                  </a:cubicBezTo>
                  <a:lnTo>
                    <a:pt x="185547" y="2598420"/>
                  </a:lnTo>
                  <a:cubicBezTo>
                    <a:pt x="83058" y="2598420"/>
                    <a:pt x="0" y="2515362"/>
                    <a:pt x="0" y="241287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4A853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355580" y="4594860"/>
            <a:ext cx="3497580" cy="466344"/>
            <a:chOff x="0" y="0"/>
            <a:chExt cx="4663440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63440" cy="621792"/>
            </a:xfrm>
            <a:custGeom>
              <a:avLst/>
              <a:gdLst/>
              <a:ahLst/>
              <a:cxnLst/>
              <a:rect r="r" b="b" t="t" l="l"/>
              <a:pathLst>
                <a:path h="621792" w="46634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355580" y="4828032"/>
            <a:ext cx="3497580" cy="233172"/>
            <a:chOff x="0" y="0"/>
            <a:chExt cx="4663440" cy="3108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63440" cy="310896"/>
            </a:xfrm>
            <a:custGeom>
              <a:avLst/>
              <a:gdLst/>
              <a:ahLst/>
              <a:cxnLst/>
              <a:rect r="r" b="b" t="t" l="l"/>
              <a:pathLst>
                <a:path h="310896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492740" y="4594860"/>
            <a:ext cx="3223260" cy="466344"/>
            <a:chOff x="0" y="0"/>
            <a:chExt cx="429768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297680" cy="621792"/>
            </a:xfrm>
            <a:custGeom>
              <a:avLst/>
              <a:gdLst/>
              <a:ahLst/>
              <a:cxnLst/>
              <a:rect r="r" b="b" t="t" l="l"/>
              <a:pathLst>
                <a:path h="621792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76" r="0" b="-8467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29768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EventCompletionEntity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611593" y="5132051"/>
            <a:ext cx="2985545" cy="122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id, eventId (FK)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occurrenceDate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isCompleted (theo từng lần lặp)</a:t>
            </a:r>
          </a:p>
        </p:txBody>
      </p:sp>
      <p:sp>
        <p:nvSpPr>
          <p:cNvPr name="AutoShape 58" id="58"/>
          <p:cNvSpPr/>
          <p:nvPr/>
        </p:nvSpPr>
        <p:spPr>
          <a:xfrm rot="1454760">
            <a:off x="4184628" y="3796665"/>
            <a:ext cx="1094794" cy="0"/>
          </a:xfrm>
          <a:prstGeom prst="line">
            <a:avLst/>
          </a:prstGeom>
          <a:ln cap="rnd" w="19050">
            <a:solidFill>
              <a:srgbClr val="9B90D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rot="9748680">
            <a:off x="9352121" y="3283687"/>
            <a:ext cx="1046788" cy="0"/>
          </a:xfrm>
          <a:prstGeom prst="line">
            <a:avLst/>
          </a:prstGeom>
          <a:ln cap="rnd" w="19050">
            <a:solidFill>
              <a:srgbClr val="9B90D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rot="2270220">
            <a:off x="9243546" y="5176838"/>
            <a:ext cx="1263958" cy="0"/>
          </a:xfrm>
          <a:prstGeom prst="line">
            <a:avLst/>
          </a:prstGeom>
          <a:ln cap="rnd" w="19050">
            <a:solidFill>
              <a:srgbClr val="9B90DE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1" id="61"/>
          <p:cNvGrpSpPr/>
          <p:nvPr/>
        </p:nvGrpSpPr>
        <p:grpSpPr>
          <a:xfrm rot="0">
            <a:off x="4334256" y="3120390"/>
            <a:ext cx="822960" cy="274320"/>
            <a:chOff x="0" y="0"/>
            <a:chExt cx="1097280" cy="3657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1—N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77756" y="2951683"/>
            <a:ext cx="822960" cy="274320"/>
            <a:chOff x="0" y="0"/>
            <a:chExt cx="1097280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0972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1—N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77756" y="4337685"/>
            <a:ext cx="822960" cy="274320"/>
            <a:chOff x="0" y="0"/>
            <a:chExt cx="1097280" cy="3657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365760"/>
            </a:xfrm>
            <a:custGeom>
              <a:avLst/>
              <a:gdLst/>
              <a:ahLst/>
              <a:cxnLst/>
              <a:rect r="r" b="b" t="t" l="l"/>
              <a:pathLst>
                <a:path h="36576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97280" cy="39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1—N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40093" y="6363653"/>
            <a:ext cx="4006215" cy="1880235"/>
            <a:chOff x="0" y="0"/>
            <a:chExt cx="5341620" cy="25069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3416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53416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5155946" y="0"/>
                  </a:lnTo>
                  <a:cubicBezTo>
                    <a:pt x="5258562" y="0"/>
                    <a:pt x="5341620" y="83185"/>
                    <a:pt x="5341620" y="185674"/>
                  </a:cubicBezTo>
                  <a:lnTo>
                    <a:pt x="5341620" y="2321306"/>
                  </a:lnTo>
                  <a:cubicBezTo>
                    <a:pt x="5341620" y="2423922"/>
                    <a:pt x="5258435" y="2506980"/>
                    <a:pt x="5155946" y="2506980"/>
                  </a:cubicBezTo>
                  <a:lnTo>
                    <a:pt x="185674" y="2506980"/>
                  </a:lnTo>
                  <a:cubicBezTo>
                    <a:pt x="83185" y="2506980"/>
                    <a:pt x="0" y="2423795"/>
                    <a:pt x="0" y="232130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C262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754380" y="6377940"/>
            <a:ext cx="3977640" cy="466344"/>
            <a:chOff x="0" y="0"/>
            <a:chExt cx="5303520" cy="62179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120640" y="0"/>
                  </a:lnTo>
                  <a:cubicBezTo>
                    <a:pt x="5221605" y="0"/>
                    <a:pt x="5303520" y="81915"/>
                    <a:pt x="5303520" y="182880"/>
                  </a:cubicBezTo>
                  <a:lnTo>
                    <a:pt x="5303520" y="438912"/>
                  </a:lnTo>
                  <a:cubicBezTo>
                    <a:pt x="5303520" y="539877"/>
                    <a:pt x="5221605" y="621792"/>
                    <a:pt x="512064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54380" y="6611112"/>
            <a:ext cx="3977640" cy="233172"/>
            <a:chOff x="0" y="0"/>
            <a:chExt cx="5303520" cy="3108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303520" cy="310896"/>
            </a:xfrm>
            <a:custGeom>
              <a:avLst/>
              <a:gdLst/>
              <a:ahLst/>
              <a:cxnLst/>
              <a:rect r="r" b="b" t="t" l="l"/>
              <a:pathLst>
                <a:path h="31089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91540" y="6377940"/>
            <a:ext cx="3703320" cy="466344"/>
            <a:chOff x="0" y="0"/>
            <a:chExt cx="4937760" cy="6217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HolidayEntity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010393" y="6915131"/>
            <a:ext cx="3465605" cy="115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date, name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isLunarBased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nguồn: date.nager.at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5060632" y="6363653"/>
            <a:ext cx="4006215" cy="1880235"/>
            <a:chOff x="0" y="0"/>
            <a:chExt cx="5341620" cy="25069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41620" cy="2506980"/>
            </a:xfrm>
            <a:custGeom>
              <a:avLst/>
              <a:gdLst/>
              <a:ahLst/>
              <a:cxnLst/>
              <a:rect r="r" b="b" t="t" l="l"/>
              <a:pathLst>
                <a:path h="2506980" w="534162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5155946" y="0"/>
                  </a:lnTo>
                  <a:cubicBezTo>
                    <a:pt x="5258562" y="0"/>
                    <a:pt x="5341620" y="83185"/>
                    <a:pt x="5341620" y="185674"/>
                  </a:cubicBezTo>
                  <a:lnTo>
                    <a:pt x="5341620" y="2321306"/>
                  </a:lnTo>
                  <a:cubicBezTo>
                    <a:pt x="5341620" y="2423922"/>
                    <a:pt x="5258435" y="2506980"/>
                    <a:pt x="5155946" y="2506980"/>
                  </a:cubicBezTo>
                  <a:lnTo>
                    <a:pt x="185674" y="2506980"/>
                  </a:lnTo>
                  <a:cubicBezTo>
                    <a:pt x="83185" y="2506980"/>
                    <a:pt x="0" y="2423795"/>
                    <a:pt x="0" y="232130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6B6D4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5074920" y="6377940"/>
            <a:ext cx="3977640" cy="466344"/>
            <a:chOff x="0" y="0"/>
            <a:chExt cx="5303520" cy="6217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303520" cy="621792"/>
            </a:xfrm>
            <a:custGeom>
              <a:avLst/>
              <a:gdLst/>
              <a:ahLst/>
              <a:cxnLst/>
              <a:rect r="r" b="b" t="t" l="l"/>
              <a:pathLst>
                <a:path h="621792" w="53035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120640" y="0"/>
                  </a:lnTo>
                  <a:cubicBezTo>
                    <a:pt x="5221605" y="0"/>
                    <a:pt x="5303520" y="81915"/>
                    <a:pt x="5303520" y="182880"/>
                  </a:cubicBezTo>
                  <a:lnTo>
                    <a:pt x="5303520" y="438912"/>
                  </a:lnTo>
                  <a:cubicBezTo>
                    <a:pt x="5303520" y="539877"/>
                    <a:pt x="5221605" y="621792"/>
                    <a:pt x="512064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5074920" y="6611112"/>
            <a:ext cx="3977640" cy="233172"/>
            <a:chOff x="0" y="0"/>
            <a:chExt cx="5303520" cy="3108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03520" cy="310896"/>
            </a:xfrm>
            <a:custGeom>
              <a:avLst/>
              <a:gdLst/>
              <a:ahLst/>
              <a:cxnLst/>
              <a:rect r="r" b="b" t="t" l="l"/>
              <a:pathLst>
                <a:path h="310896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5212080" y="6377940"/>
            <a:ext cx="3703320" cy="466344"/>
            <a:chOff x="0" y="0"/>
            <a:chExt cx="4937760" cy="6217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937760" cy="621792"/>
            </a:xfrm>
            <a:custGeom>
              <a:avLst/>
              <a:gdLst/>
              <a:ahLst/>
              <a:cxnLst/>
              <a:rect r="r" b="b" t="t" l="l"/>
              <a:pathLst>
                <a:path h="621792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734" r="0" b="-10473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9050"/>
              <a:ext cx="49377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WeatherForecastEntity</a:t>
              </a:r>
            </a:p>
          </p:txBody>
        </p:sp>
      </p:grpSp>
      <p:sp>
        <p:nvSpPr>
          <p:cNvPr name="TextBox 89" id="89"/>
          <p:cNvSpPr txBox="true"/>
          <p:nvPr/>
        </p:nvSpPr>
        <p:spPr>
          <a:xfrm rot="0">
            <a:off x="5330933" y="6915131"/>
            <a:ext cx="3465605" cy="115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date, tempMin/Max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weatherEmoji</a:t>
            </a:r>
          </a:p>
          <a:p>
            <a:pPr algn="l" marL="225314" indent="-112657" lvl="1">
              <a:lnSpc>
                <a:spcPts val="1889"/>
              </a:lnSpc>
              <a:buFont typeface="Arial"/>
              <a:buChar char="•"/>
            </a:pPr>
            <a:r>
              <a:rPr lang="en-US" sz="124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nguồn: Open-Meteo</a:t>
            </a:r>
          </a:p>
        </p:txBody>
      </p:sp>
      <p:grpSp>
        <p:nvGrpSpPr>
          <p:cNvPr name="Group 90" id="90"/>
          <p:cNvGrpSpPr/>
          <p:nvPr/>
        </p:nvGrpSpPr>
        <p:grpSpPr>
          <a:xfrm rot="0">
            <a:off x="9464040" y="6926580"/>
            <a:ext cx="768096" cy="768096"/>
            <a:chOff x="0" y="0"/>
            <a:chExt cx="1024128" cy="10241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C144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42348" y="7104888"/>
            <a:ext cx="411480" cy="411480"/>
            <a:chOff x="0" y="0"/>
            <a:chExt cx="548640" cy="548640"/>
          </a:xfrm>
        </p:grpSpPr>
        <p:sp>
          <p:nvSpPr>
            <p:cNvPr name="Freeform 93" id="93" descr="/home/claude/icons/cloud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287000" y="6624828"/>
            <a:ext cx="2880360" cy="1371600"/>
            <a:chOff x="0" y="0"/>
            <a:chExt cx="3840480" cy="1828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840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6" t="0" r="-11096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85725"/>
              <a:ext cx="38404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Đồng bộ định kỳ</a:t>
              </a:r>
            </a:p>
            <a:p>
              <a:pPr algn="l">
                <a:lnSpc>
                  <a:spcPts val="2340"/>
                </a:lnSpc>
              </a:pPr>
              <a:r>
                <a:rPr lang="en-US" sz="15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từ API bên ngoài,</a:t>
              </a:r>
            </a:p>
            <a:p>
              <a:pPr algn="l">
                <a:lnSpc>
                  <a:spcPts val="2340"/>
                </a:lnSpc>
              </a:pPr>
              <a:r>
                <a:rPr lang="en-US" sz="15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lưu cache cục bộ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54380" y="8503920"/>
            <a:ext cx="16778783" cy="411480"/>
            <a:chOff x="0" y="0"/>
            <a:chExt cx="2237171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2371710" cy="548640"/>
            </a:xfrm>
            <a:custGeom>
              <a:avLst/>
              <a:gdLst/>
              <a:ahLst/>
              <a:cxnLst/>
              <a:rect r="r" b="b" t="t" l="l"/>
              <a:pathLst>
                <a:path h="54864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4534" r="0" b="-74453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237171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Room v2 • fallbackToDestructiveMigration • Flow-based reactive queries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toda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5027847" cy="383848"/>
            <a:chOff x="0" y="0"/>
            <a:chExt cx="6703797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03800" cy="511800"/>
            </a:xfrm>
            <a:custGeom>
              <a:avLst/>
              <a:gdLst/>
              <a:ahLst/>
              <a:cxnLst/>
              <a:rect r="r" b="b" t="t" l="l"/>
              <a:pathLst>
                <a:path h="511800" w="6703800">
                  <a:moveTo>
                    <a:pt x="0" y="0"/>
                  </a:moveTo>
                  <a:lnTo>
                    <a:pt x="6703800" y="0"/>
                  </a:lnTo>
                  <a:lnTo>
                    <a:pt x="67038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24" r="0" b="-20522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703797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6599253" cy="768153"/>
            <a:chOff x="0" y="0"/>
            <a:chExt cx="8799004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90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8799000">
                  <a:moveTo>
                    <a:pt x="0" y="0"/>
                  </a:moveTo>
                  <a:lnTo>
                    <a:pt x="8799000" y="0"/>
                  </a:lnTo>
                  <a:lnTo>
                    <a:pt x="87990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97" r="0" b="-1173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799004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Trang chủ — “Việc cần làm”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04600" y="4792285"/>
            <a:ext cx="648491" cy="648491"/>
            <a:chOff x="0" y="0"/>
            <a:chExt cx="864654" cy="864654"/>
          </a:xfrm>
        </p:grpSpPr>
        <p:sp>
          <p:nvSpPr>
            <p:cNvPr name="Freeform 19" id="19" descr="/home/claude/icons/image.png"/>
            <p:cNvSpPr/>
            <p:nvPr/>
          </p:nvSpPr>
          <p:spPr>
            <a:xfrm flipH="false" flipV="false" rot="0">
              <a:off x="0" y="0"/>
              <a:ext cx="864616" cy="864616"/>
            </a:xfrm>
            <a:custGeom>
              <a:avLst/>
              <a:gdLst/>
              <a:ahLst/>
              <a:cxnLst/>
              <a:rect r="r" b="b" t="t" l="l"/>
              <a:pathLst>
                <a:path h="864616" w="864616">
                  <a:moveTo>
                    <a:pt x="0" y="0"/>
                  </a:moveTo>
                  <a:lnTo>
                    <a:pt x="864616" y="0"/>
                  </a:lnTo>
                  <a:lnTo>
                    <a:pt x="864616" y="864616"/>
                  </a:lnTo>
                  <a:lnTo>
                    <a:pt x="0" y="864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</a:blip>
              <a:stretch>
                <a:fillRect l="0" t="0" r="-4" b="-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09278" y="2256206"/>
            <a:ext cx="630898" cy="630898"/>
            <a:chOff x="0" y="0"/>
            <a:chExt cx="841197" cy="8411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53296" y="2400224"/>
            <a:ext cx="342900" cy="342900"/>
            <a:chOff x="0" y="0"/>
            <a:chExt cx="457200" cy="457200"/>
          </a:xfrm>
        </p:grpSpPr>
        <p:sp>
          <p:nvSpPr>
            <p:cNvPr name="Freeform 23" id="23" descr="/home/claude/icons/sunn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59660" y="2215086"/>
            <a:ext cx="7675197" cy="438750"/>
            <a:chOff x="0" y="0"/>
            <a:chExt cx="10233596" cy="585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Header ngày &amp; thời tiết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9660" y="2640282"/>
            <a:ext cx="7675197" cy="575996"/>
            <a:chOff x="0" y="0"/>
            <a:chExt cx="10233596" cy="767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Ngày đầy đủ kèm Lịch Âm và thời tiết trong ngày, có nút “về Hôm nay”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9278" y="3326054"/>
            <a:ext cx="630898" cy="630898"/>
            <a:chOff x="0" y="0"/>
            <a:chExt cx="841197" cy="8411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53296" y="3470072"/>
            <a:ext cx="342900" cy="342900"/>
            <a:chOff x="0" y="0"/>
            <a:chExt cx="457200" cy="457200"/>
          </a:xfrm>
        </p:grpSpPr>
        <p:sp>
          <p:nvSpPr>
            <p:cNvPr name="Freeform 33" id="33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59660" y="3284925"/>
            <a:ext cx="7675197" cy="438750"/>
            <a:chOff x="0" y="0"/>
            <a:chExt cx="10233596" cy="585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Băng chọn nhanh  ngày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59660" y="3710121"/>
            <a:ext cx="7675197" cy="575996"/>
            <a:chOff x="0" y="0"/>
            <a:chExt cx="10233596" cy="7679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Carousel tuần hiện tại kèm âm lịch &amp; icon thời tiết từng ngày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09278" y="4395902"/>
            <a:ext cx="630898" cy="630898"/>
            <a:chOff x="0" y="0"/>
            <a:chExt cx="841197" cy="84119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53296" y="4539920"/>
            <a:ext cx="342900" cy="342900"/>
            <a:chOff x="0" y="0"/>
            <a:chExt cx="457200" cy="457200"/>
          </a:xfrm>
        </p:grpSpPr>
        <p:sp>
          <p:nvSpPr>
            <p:cNvPr name="Freeform 43" id="43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159660" y="4354773"/>
            <a:ext cx="7675197" cy="438750"/>
            <a:chOff x="0" y="0"/>
            <a:chExt cx="10233596" cy="585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Thẻ tiến độ trong ngày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159660" y="4779959"/>
            <a:ext cx="7675197" cy="575996"/>
            <a:chOff x="0" y="0"/>
            <a:chExt cx="10233596" cy="76799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Số việc đã hoàn thành / tổng số việc — cập nhật theo thời gian thực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9278" y="5465750"/>
            <a:ext cx="630898" cy="630898"/>
            <a:chOff x="0" y="0"/>
            <a:chExt cx="841197" cy="8411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53296" y="5609768"/>
            <a:ext cx="342900" cy="342900"/>
            <a:chOff x="0" y="0"/>
            <a:chExt cx="457200" cy="457200"/>
          </a:xfrm>
        </p:grpSpPr>
        <p:sp>
          <p:nvSpPr>
            <p:cNvPr name="Freeform 53" id="53" descr="/home/claude/icons/filter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2159660" y="5849807"/>
            <a:ext cx="7675197" cy="575996"/>
            <a:chOff x="0" y="0"/>
            <a:chExt cx="10233596" cy="76799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Chip lọc theo từng danh mục sự kiện, hiện số lượng việc tương ứng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09278" y="6535598"/>
            <a:ext cx="630898" cy="630898"/>
            <a:chOff x="0" y="0"/>
            <a:chExt cx="841197" cy="8411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53296" y="6679616"/>
            <a:ext cx="342900" cy="342900"/>
            <a:chOff x="0" y="0"/>
            <a:chExt cx="457200" cy="457200"/>
          </a:xfrm>
        </p:grpSpPr>
        <p:sp>
          <p:nvSpPr>
            <p:cNvPr name="Freeform 60" id="60" descr="/home/claude/icons/check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159660" y="6494450"/>
            <a:ext cx="7675197" cy="438750"/>
            <a:chOff x="0" y="0"/>
            <a:chExt cx="10233596" cy="585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Danh sách công việc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159660" y="6919646"/>
            <a:ext cx="7675197" cy="575996"/>
            <a:chOff x="0" y="0"/>
            <a:chExt cx="10233596" cy="76799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Tick hoàn thành, sửa hoặc xoá; có trạng thái rỗng khi chưa có việc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09278" y="7605446"/>
            <a:ext cx="630898" cy="630898"/>
            <a:chOff x="0" y="0"/>
            <a:chExt cx="841197" cy="8411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453296" y="7749464"/>
            <a:ext cx="342900" cy="342900"/>
            <a:chOff x="0" y="0"/>
            <a:chExt cx="457200" cy="457200"/>
          </a:xfrm>
        </p:grpSpPr>
        <p:sp>
          <p:nvSpPr>
            <p:cNvPr name="Freeform 70" id="70" descr="/home/claude/icons/ad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159660" y="7564298"/>
            <a:ext cx="7675197" cy="438750"/>
            <a:chOff x="0" y="0"/>
            <a:chExt cx="10233596" cy="585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Nút nổi thêm nhanh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159660" y="7989484"/>
            <a:ext cx="7675197" cy="575996"/>
            <a:chOff x="0" y="0"/>
            <a:chExt cx="10233596" cy="76799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33600" cy="768000"/>
            </a:xfrm>
            <a:custGeom>
              <a:avLst/>
              <a:gdLst/>
              <a:ahLst/>
              <a:cxnLst/>
              <a:rect r="r" b="b" t="t" l="l"/>
              <a:pathLst>
                <a:path h="768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638" r="0" b="-20963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04775"/>
              <a:ext cx="10233596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FAB mở AddEventScreen với ngày đang chọn được điền sẵn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361849" y="9386964"/>
            <a:ext cx="3902412" cy="368732"/>
            <a:chOff x="0" y="0"/>
            <a:chExt cx="5203215" cy="49164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03210" cy="491642"/>
            </a:xfrm>
            <a:custGeom>
              <a:avLst/>
              <a:gdLst/>
              <a:ahLst/>
              <a:cxnLst/>
              <a:rect r="r" b="b" t="t" l="l"/>
              <a:pathLst>
                <a:path h="491642" w="5203210">
                  <a:moveTo>
                    <a:pt x="0" y="0"/>
                  </a:moveTo>
                  <a:lnTo>
                    <a:pt x="5203210" y="0"/>
                  </a:lnTo>
                  <a:lnTo>
                    <a:pt x="5203210" y="491642"/>
                  </a:lnTo>
                  <a:lnTo>
                    <a:pt x="0" y="491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6" r="0" b="-15621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203215" cy="529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8"/>
                </a:lnSpc>
              </a:pPr>
              <a:r>
                <a:rPr lang="en-US" b="true" sz="1707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HomeScreen.kt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361849" y="9727540"/>
            <a:ext cx="3902412" cy="312401"/>
            <a:chOff x="0" y="0"/>
            <a:chExt cx="5203215" cy="41653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03210" cy="416530"/>
            </a:xfrm>
            <a:custGeom>
              <a:avLst/>
              <a:gdLst/>
              <a:ahLst/>
              <a:cxnLst/>
              <a:rect r="r" b="b" t="t" l="l"/>
              <a:pathLst>
                <a:path h="416530" w="5203210">
                  <a:moveTo>
                    <a:pt x="0" y="0"/>
                  </a:moveTo>
                  <a:lnTo>
                    <a:pt x="5203210" y="0"/>
                  </a:lnTo>
                  <a:lnTo>
                    <a:pt x="5203210" y="416530"/>
                  </a:lnTo>
                  <a:lnTo>
                    <a:pt x="0" y="416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02" r="0" b="-19340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5203215" cy="445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2"/>
                </a:lnSpc>
              </a:pPr>
              <a:r>
                <a:rPr lang="en-US" sz="1318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Danh sách cuộn (LazyColumn)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130523" y="966473"/>
            <a:ext cx="630898" cy="630898"/>
            <a:chOff x="0" y="0"/>
            <a:chExt cx="841197" cy="84119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274541" y="1110491"/>
            <a:ext cx="342900" cy="342900"/>
            <a:chOff x="0" y="0"/>
            <a:chExt cx="457200" cy="457200"/>
          </a:xfrm>
        </p:grpSpPr>
        <p:sp>
          <p:nvSpPr>
            <p:cNvPr name="Freeform 86" id="86" descr="/home/claude/icons/sunn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489093" y="236534"/>
            <a:ext cx="3647932" cy="9006373"/>
            <a:chOff x="0" y="0"/>
            <a:chExt cx="4863910" cy="1200849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63846" cy="12008485"/>
            </a:xfrm>
            <a:custGeom>
              <a:avLst/>
              <a:gdLst/>
              <a:ahLst/>
              <a:cxnLst/>
              <a:rect r="r" b="b" t="t" l="l"/>
              <a:pathLst>
                <a:path h="12008485" w="4863846">
                  <a:moveTo>
                    <a:pt x="0" y="497713"/>
                  </a:moveTo>
                  <a:cubicBezTo>
                    <a:pt x="0" y="222885"/>
                    <a:pt x="222885" y="0"/>
                    <a:pt x="497713" y="0"/>
                  </a:cubicBezTo>
                  <a:lnTo>
                    <a:pt x="4366133" y="0"/>
                  </a:lnTo>
                  <a:cubicBezTo>
                    <a:pt x="4640961" y="0"/>
                    <a:pt x="4863846" y="222885"/>
                    <a:pt x="4863846" y="497713"/>
                  </a:cubicBezTo>
                  <a:lnTo>
                    <a:pt x="4863846" y="11510772"/>
                  </a:lnTo>
                  <a:cubicBezTo>
                    <a:pt x="4863846" y="11785600"/>
                    <a:pt x="4640961" y="12008485"/>
                    <a:pt x="4366133" y="12008485"/>
                  </a:cubicBezTo>
                  <a:lnTo>
                    <a:pt x="497713" y="12008485"/>
                  </a:lnTo>
                  <a:cubicBezTo>
                    <a:pt x="222885" y="12008485"/>
                    <a:pt x="0" y="11785600"/>
                    <a:pt x="0" y="11510772"/>
                  </a:cubicBezTo>
                  <a:close/>
                </a:path>
              </a:pathLst>
            </a:custGeom>
            <a:solidFill>
              <a:srgbClr val="17142E"/>
            </a:solidFill>
            <a:ln w="21112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665496" y="486708"/>
            <a:ext cx="3297117" cy="8541115"/>
            <a:chOff x="0" y="0"/>
            <a:chExt cx="4396156" cy="1138815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96105" cy="11388090"/>
            </a:xfrm>
            <a:custGeom>
              <a:avLst/>
              <a:gdLst/>
              <a:ahLst/>
              <a:cxnLst/>
              <a:rect r="r" b="b" t="t" l="l"/>
              <a:pathLst>
                <a:path h="11388090" w="4396105">
                  <a:moveTo>
                    <a:pt x="0" y="0"/>
                  </a:moveTo>
                  <a:lnTo>
                    <a:pt x="4396105" y="0"/>
                  </a:lnTo>
                  <a:lnTo>
                    <a:pt x="4396105" y="11388090"/>
                  </a:lnTo>
                  <a:lnTo>
                    <a:pt x="0" y="11388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426" r="-1" b="-242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871704" y="412833"/>
            <a:ext cx="882720" cy="162020"/>
            <a:chOff x="0" y="0"/>
            <a:chExt cx="1176960" cy="21602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176909" cy="215900"/>
            </a:xfrm>
            <a:custGeom>
              <a:avLst/>
              <a:gdLst/>
              <a:ahLst/>
              <a:cxnLst/>
              <a:rect r="r" b="b" t="t" l="l"/>
              <a:pathLst>
                <a:path h="215900" w="1176909">
                  <a:moveTo>
                    <a:pt x="0" y="107950"/>
                  </a:moveTo>
                  <a:cubicBezTo>
                    <a:pt x="0" y="48387"/>
                    <a:pt x="48387" y="0"/>
                    <a:pt x="107950" y="0"/>
                  </a:cubicBezTo>
                  <a:lnTo>
                    <a:pt x="1068959" y="0"/>
                  </a:lnTo>
                  <a:cubicBezTo>
                    <a:pt x="1128649" y="0"/>
                    <a:pt x="1176909" y="48387"/>
                    <a:pt x="1176909" y="107950"/>
                  </a:cubicBezTo>
                  <a:cubicBezTo>
                    <a:pt x="1176909" y="167513"/>
                    <a:pt x="1128522" y="215900"/>
                    <a:pt x="1068959" y="215900"/>
                  </a:cubicBezTo>
                  <a:lnTo>
                    <a:pt x="107950" y="215900"/>
                  </a:lnTo>
                  <a:cubicBezTo>
                    <a:pt x="48387" y="216027"/>
                    <a:pt x="0" y="167640"/>
                    <a:pt x="0" y="107950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822268" y="950566"/>
            <a:ext cx="2974838" cy="662740"/>
            <a:chOff x="0" y="0"/>
            <a:chExt cx="3966451" cy="88365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966464" cy="883666"/>
            </a:xfrm>
            <a:custGeom>
              <a:avLst/>
              <a:gdLst/>
              <a:ahLst/>
              <a:cxnLst/>
              <a:rect r="r" b="b" t="t" l="l"/>
              <a:pathLst>
                <a:path h="883666" w="3966464">
                  <a:moveTo>
                    <a:pt x="0" y="0"/>
                  </a:moveTo>
                  <a:lnTo>
                    <a:pt x="3966464" y="0"/>
                  </a:lnTo>
                  <a:lnTo>
                    <a:pt x="3966464" y="883666"/>
                  </a:lnTo>
                  <a:lnTo>
                    <a:pt x="0" y="8836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61" r="0" b="-37460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5855725" y="1782813"/>
            <a:ext cx="630898" cy="630898"/>
            <a:chOff x="0" y="0"/>
            <a:chExt cx="841197" cy="84119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5999743" y="1926831"/>
            <a:ext cx="342900" cy="342900"/>
            <a:chOff x="0" y="0"/>
            <a:chExt cx="457200" cy="457200"/>
          </a:xfrm>
        </p:grpSpPr>
        <p:sp>
          <p:nvSpPr>
            <p:cNvPr name="Freeform 98" id="98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822268" y="1665884"/>
            <a:ext cx="2974838" cy="864784"/>
            <a:chOff x="0" y="0"/>
            <a:chExt cx="3966451" cy="115304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966464" cy="1153033"/>
            </a:xfrm>
            <a:custGeom>
              <a:avLst/>
              <a:gdLst/>
              <a:ahLst/>
              <a:cxnLst/>
              <a:rect r="r" b="b" t="t" l="l"/>
              <a:pathLst>
                <a:path h="1153033" w="3966464">
                  <a:moveTo>
                    <a:pt x="0" y="0"/>
                  </a:moveTo>
                  <a:lnTo>
                    <a:pt x="3966464" y="0"/>
                  </a:lnTo>
                  <a:lnTo>
                    <a:pt x="3966464" y="1153033"/>
                  </a:lnTo>
                  <a:lnTo>
                    <a:pt x="0" y="1153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9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sp>
        <p:nvSpPr>
          <p:cNvPr name="AutoShape 101" id="101"/>
          <p:cNvSpPr/>
          <p:nvPr/>
        </p:nvSpPr>
        <p:spPr>
          <a:xfrm rot="45480">
            <a:off x="14782933" y="2093509"/>
            <a:ext cx="1079983" cy="9525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2" id="102"/>
          <p:cNvGrpSpPr/>
          <p:nvPr/>
        </p:nvGrpSpPr>
        <p:grpSpPr>
          <a:xfrm rot="0">
            <a:off x="11825640" y="2583247"/>
            <a:ext cx="2974838" cy="864784"/>
            <a:chOff x="0" y="0"/>
            <a:chExt cx="3966451" cy="115304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966464" cy="1153033"/>
            </a:xfrm>
            <a:custGeom>
              <a:avLst/>
              <a:gdLst/>
              <a:ahLst/>
              <a:cxnLst/>
              <a:rect r="r" b="b" t="t" l="l"/>
              <a:pathLst>
                <a:path h="1153033" w="3966464">
                  <a:moveTo>
                    <a:pt x="0" y="0"/>
                  </a:moveTo>
                  <a:lnTo>
                    <a:pt x="3966464" y="0"/>
                  </a:lnTo>
                  <a:lnTo>
                    <a:pt x="3966464" y="1153033"/>
                  </a:lnTo>
                  <a:lnTo>
                    <a:pt x="0" y="11530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28" r="0" b="-17029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sp>
        <p:nvSpPr>
          <p:cNvPr name="AutoShape 104" id="104"/>
          <p:cNvSpPr/>
          <p:nvPr/>
        </p:nvSpPr>
        <p:spPr>
          <a:xfrm rot="45540">
            <a:off x="10757792" y="3010872"/>
            <a:ext cx="1078630" cy="0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5" id="105"/>
          <p:cNvSpPr/>
          <p:nvPr/>
        </p:nvSpPr>
        <p:spPr>
          <a:xfrm rot="45360">
            <a:off x="10754230" y="1277160"/>
            <a:ext cx="1082230" cy="9525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06" id="106"/>
          <p:cNvGrpSpPr/>
          <p:nvPr/>
        </p:nvGrpSpPr>
        <p:grpSpPr>
          <a:xfrm rot="0">
            <a:off x="2159660" y="5424621"/>
            <a:ext cx="7675197" cy="438750"/>
            <a:chOff x="0" y="0"/>
            <a:chExt cx="10233596" cy="5850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233600" cy="585000"/>
            </a:xfrm>
            <a:custGeom>
              <a:avLst/>
              <a:gdLst/>
              <a:ahLst/>
              <a:cxnLst/>
              <a:rect r="r" b="b" t="t" l="l"/>
              <a:pathLst>
                <a:path h="585000" w="102336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858" r="0" b="-290858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10233596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Bộ lọc theo danh mục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130523" y="2700195"/>
            <a:ext cx="630898" cy="630898"/>
            <a:chOff x="0" y="0"/>
            <a:chExt cx="841197" cy="841197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274541" y="2844213"/>
            <a:ext cx="342900" cy="342900"/>
            <a:chOff x="0" y="0"/>
            <a:chExt cx="457200" cy="457200"/>
          </a:xfrm>
        </p:grpSpPr>
        <p:sp>
          <p:nvSpPr>
            <p:cNvPr name="Freeform 112" id="112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113" id="113"/>
          <p:cNvSpPr/>
          <p:nvPr/>
        </p:nvSpPr>
        <p:spPr>
          <a:xfrm rot="42720">
            <a:off x="14831644" y="3757289"/>
            <a:ext cx="1150172" cy="9525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4" id="114"/>
          <p:cNvGrpSpPr/>
          <p:nvPr/>
        </p:nvGrpSpPr>
        <p:grpSpPr>
          <a:xfrm rot="0">
            <a:off x="11782292" y="3570618"/>
            <a:ext cx="3063488" cy="382838"/>
            <a:chOff x="0" y="0"/>
            <a:chExt cx="4084650" cy="510451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4084701" cy="510413"/>
            </a:xfrm>
            <a:custGeom>
              <a:avLst/>
              <a:gdLst/>
              <a:ahLst/>
              <a:cxnLst/>
              <a:rect r="r" b="b" t="t" l="l"/>
              <a:pathLst>
                <a:path h="510413" w="4084701">
                  <a:moveTo>
                    <a:pt x="0" y="0"/>
                  </a:moveTo>
                  <a:lnTo>
                    <a:pt x="4084701" y="0"/>
                  </a:lnTo>
                  <a:lnTo>
                    <a:pt x="4084701" y="510413"/>
                  </a:lnTo>
                  <a:lnTo>
                    <a:pt x="0" y="5104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927" r="1" b="-105935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grpSp>
        <p:nvGrpSpPr>
          <p:cNvPr name="Group 116" id="116"/>
          <p:cNvGrpSpPr/>
          <p:nvPr/>
        </p:nvGrpSpPr>
        <p:grpSpPr>
          <a:xfrm rot="0">
            <a:off x="15974635" y="3446602"/>
            <a:ext cx="630898" cy="630898"/>
            <a:chOff x="0" y="0"/>
            <a:chExt cx="841197" cy="841197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6118653" y="3590620"/>
            <a:ext cx="342900" cy="342900"/>
            <a:chOff x="0" y="0"/>
            <a:chExt cx="457200" cy="457200"/>
          </a:xfrm>
        </p:grpSpPr>
        <p:sp>
          <p:nvSpPr>
            <p:cNvPr name="Freeform 119" id="119" descr="/home/claude/icons/filter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782292" y="4153519"/>
            <a:ext cx="3103540" cy="2279590"/>
            <a:chOff x="0" y="0"/>
            <a:chExt cx="4138054" cy="303945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138041" cy="3039491"/>
            </a:xfrm>
            <a:custGeom>
              <a:avLst/>
              <a:gdLst/>
              <a:ahLst/>
              <a:cxnLst/>
              <a:rect r="r" b="b" t="t" l="l"/>
              <a:pathLst>
                <a:path h="3039491" w="4138041">
                  <a:moveTo>
                    <a:pt x="0" y="0"/>
                  </a:moveTo>
                  <a:lnTo>
                    <a:pt x="4138041" y="0"/>
                  </a:lnTo>
                  <a:lnTo>
                    <a:pt x="4138041" y="3039491"/>
                  </a:lnTo>
                  <a:lnTo>
                    <a:pt x="0" y="30394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4240" t="0" r="-44241" b="1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sp>
        <p:nvSpPr>
          <p:cNvPr name="AutoShape 122" id="122"/>
          <p:cNvSpPr/>
          <p:nvPr/>
        </p:nvSpPr>
        <p:spPr>
          <a:xfrm rot="45540">
            <a:off x="10718006" y="5288547"/>
            <a:ext cx="1078630" cy="0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3" id="123"/>
          <p:cNvGrpSpPr/>
          <p:nvPr/>
        </p:nvGrpSpPr>
        <p:grpSpPr>
          <a:xfrm rot="0">
            <a:off x="10094300" y="4977851"/>
            <a:ext cx="630898" cy="630898"/>
            <a:chOff x="0" y="0"/>
            <a:chExt cx="841197" cy="841197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238318" y="5121869"/>
            <a:ext cx="342900" cy="342900"/>
            <a:chOff x="0" y="0"/>
            <a:chExt cx="457200" cy="457200"/>
          </a:xfrm>
        </p:grpSpPr>
        <p:sp>
          <p:nvSpPr>
            <p:cNvPr name="Freeform 126" id="126" descr="/home/claude/icons/check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AutoShape 127" id="127"/>
          <p:cNvSpPr/>
          <p:nvPr/>
        </p:nvSpPr>
        <p:spPr>
          <a:xfrm rot="24540">
            <a:off x="13633094" y="7916142"/>
            <a:ext cx="2000193" cy="0"/>
          </a:xfrm>
          <a:prstGeom prst="line">
            <a:avLst/>
          </a:prstGeom>
          <a:ln cap="rnd" w="9525">
            <a:solidFill>
              <a:srgbClr val="5B42F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8" id="128"/>
          <p:cNvGrpSpPr/>
          <p:nvPr/>
        </p:nvGrpSpPr>
        <p:grpSpPr>
          <a:xfrm rot="0">
            <a:off x="12978317" y="7647546"/>
            <a:ext cx="662740" cy="590283"/>
            <a:chOff x="0" y="0"/>
            <a:chExt cx="883653" cy="78704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883666" cy="787019"/>
            </a:xfrm>
            <a:custGeom>
              <a:avLst/>
              <a:gdLst/>
              <a:ahLst/>
              <a:cxnLst/>
              <a:rect r="r" b="b" t="t" l="l"/>
              <a:pathLst>
                <a:path h="787019" w="883666">
                  <a:moveTo>
                    <a:pt x="0" y="0"/>
                  </a:moveTo>
                  <a:lnTo>
                    <a:pt x="883666" y="0"/>
                  </a:lnTo>
                  <a:lnTo>
                    <a:pt x="883666" y="787019"/>
                  </a:lnTo>
                  <a:lnTo>
                    <a:pt x="0" y="7870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275" t="0" r="-64273" b="-3"/>
              </a:stretch>
            </a:blipFill>
            <a:ln w="14288" cap="sq">
              <a:solidFill>
                <a:srgbClr val="5B42F3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5626105" y="7605446"/>
            <a:ext cx="630898" cy="630898"/>
            <a:chOff x="0" y="0"/>
            <a:chExt cx="841197" cy="841197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5770123" y="7749464"/>
            <a:ext cx="342900" cy="342900"/>
            <a:chOff x="0" y="0"/>
            <a:chExt cx="457200" cy="457200"/>
          </a:xfrm>
        </p:grpSpPr>
        <p:sp>
          <p:nvSpPr>
            <p:cNvPr name="Freeform 133" id="133" descr="/home/claude/icons/ad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05615" y="5440070"/>
            <a:ext cx="3015186" cy="4339085"/>
            <a:chOff x="0" y="0"/>
            <a:chExt cx="4020248" cy="57854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20312" cy="5785485"/>
            </a:xfrm>
            <a:custGeom>
              <a:avLst/>
              <a:gdLst/>
              <a:ahLst/>
              <a:cxnLst/>
              <a:rect r="r" b="b" t="t" l="l"/>
              <a:pathLst>
                <a:path h="5785485" w="4020312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08753" y="567976"/>
            <a:ext cx="6381188" cy="874090"/>
            <a:chOff x="0" y="0"/>
            <a:chExt cx="8508251" cy="1165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08238" cy="1165479"/>
            </a:xfrm>
            <a:custGeom>
              <a:avLst/>
              <a:gdLst/>
              <a:ahLst/>
              <a:cxnLst/>
              <a:rect r="r" b="b" t="t" l="l"/>
              <a:pathLst>
                <a:path h="1165479" w="8508238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7925562" y="0"/>
                  </a:lnTo>
                  <a:cubicBezTo>
                    <a:pt x="8247380" y="0"/>
                    <a:pt x="8508238" y="260858"/>
                    <a:pt x="8508238" y="582676"/>
                  </a:cubicBezTo>
                  <a:cubicBezTo>
                    <a:pt x="8508238" y="904494"/>
                    <a:pt x="8247380" y="1165479"/>
                    <a:pt x="7925562" y="1165479"/>
                  </a:cubicBezTo>
                  <a:lnTo>
                    <a:pt x="582676" y="1165479"/>
                  </a:lnTo>
                  <a:cubicBezTo>
                    <a:pt x="260858" y="1165479"/>
                    <a:pt x="0" y="904494"/>
                    <a:pt x="0" y="582676"/>
                  </a:cubicBezTo>
                  <a:close/>
                </a:path>
              </a:pathLst>
            </a:custGeom>
            <a:solidFill>
              <a:srgbClr val="FFFFFF"/>
            </a:solidFill>
            <a:ln w="2673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4380" y="324679"/>
            <a:ext cx="850497" cy="850497"/>
            <a:chOff x="0" y="0"/>
            <a:chExt cx="1133996" cy="1133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530419"/>
            <a:ext cx="438912" cy="438912"/>
            <a:chOff x="0" y="0"/>
            <a:chExt cx="585216" cy="585216"/>
          </a:xfrm>
        </p:grpSpPr>
        <p:sp>
          <p:nvSpPr>
            <p:cNvPr name="Freeform 9" id="9" descr="/home/claude/icons/dateRang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79092" y="269815"/>
            <a:ext cx="10972800" cy="383848"/>
            <a:chOff x="0" y="0"/>
            <a:chExt cx="14630400" cy="5117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79092" y="626440"/>
            <a:ext cx="8888854" cy="768153"/>
            <a:chOff x="0" y="0"/>
            <a:chExt cx="11851805" cy="10242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518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1851800">
                  <a:moveTo>
                    <a:pt x="0" y="0"/>
                  </a:moveTo>
                  <a:lnTo>
                    <a:pt x="11851800" y="0"/>
                  </a:lnTo>
                  <a:lnTo>
                    <a:pt x="118518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476" r="0" b="-17547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851805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Lịch trình — 3 chế độ xem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508753" y="567976"/>
            <a:ext cx="6381188" cy="874090"/>
            <a:chOff x="0" y="0"/>
            <a:chExt cx="8508251" cy="11654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08238" cy="1165479"/>
            </a:xfrm>
            <a:custGeom>
              <a:avLst/>
              <a:gdLst/>
              <a:ahLst/>
              <a:cxnLst/>
              <a:rect r="r" b="b" t="t" l="l"/>
              <a:pathLst>
                <a:path h="1165479" w="8508238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7925562" y="0"/>
                  </a:lnTo>
                  <a:cubicBezTo>
                    <a:pt x="8247380" y="0"/>
                    <a:pt x="8508238" y="260858"/>
                    <a:pt x="8508238" y="582676"/>
                  </a:cubicBezTo>
                  <a:cubicBezTo>
                    <a:pt x="8508238" y="904494"/>
                    <a:pt x="8247380" y="1165479"/>
                    <a:pt x="7925562" y="1165479"/>
                  </a:cubicBezTo>
                  <a:lnTo>
                    <a:pt x="582676" y="1165479"/>
                  </a:lnTo>
                  <a:cubicBezTo>
                    <a:pt x="260858" y="1165479"/>
                    <a:pt x="0" y="904494"/>
                    <a:pt x="0" y="582676"/>
                  </a:cubicBezTo>
                  <a:close/>
                </a:path>
              </a:pathLst>
            </a:custGeom>
            <a:solidFill>
              <a:srgbClr val="FFFFFF"/>
            </a:solidFill>
            <a:ln w="2673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3640410" y="581349"/>
            <a:ext cx="2118598" cy="847354"/>
            <a:chOff x="0" y="0"/>
            <a:chExt cx="2824798" cy="11298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24800" cy="1129800"/>
            </a:xfrm>
            <a:custGeom>
              <a:avLst/>
              <a:gdLst/>
              <a:ahLst/>
              <a:cxnLst/>
              <a:rect r="r" b="b" t="t" l="l"/>
              <a:pathLst>
                <a:path h="1129800" w="2824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" t="0" r="-1316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824798" cy="117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Tuần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758989" y="592198"/>
            <a:ext cx="2118598" cy="847354"/>
            <a:chOff x="0" y="0"/>
            <a:chExt cx="2824798" cy="112980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24800" cy="1129800"/>
            </a:xfrm>
            <a:custGeom>
              <a:avLst/>
              <a:gdLst/>
              <a:ahLst/>
              <a:cxnLst/>
              <a:rect r="r" b="b" t="t" l="l"/>
              <a:pathLst>
                <a:path h="1129800" w="2824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" t="0" r="-131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824798" cy="117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445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Tháng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011398" y="1811426"/>
            <a:ext cx="3376089" cy="7201986"/>
            <a:chOff x="0" y="0"/>
            <a:chExt cx="4501452" cy="96026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01515" cy="9602724"/>
            </a:xfrm>
            <a:custGeom>
              <a:avLst/>
              <a:gdLst/>
              <a:ahLst/>
              <a:cxnLst/>
              <a:rect r="r" b="b" t="t" l="l"/>
              <a:pathLst>
                <a:path h="9602724" w="4501515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637769" y="669379"/>
            <a:ext cx="2002946" cy="693001"/>
            <a:chOff x="0" y="0"/>
            <a:chExt cx="2670594" cy="92400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70556" cy="924052"/>
            </a:xfrm>
            <a:custGeom>
              <a:avLst/>
              <a:gdLst/>
              <a:ahLst/>
              <a:cxnLst/>
              <a:rect r="r" b="b" t="t" l="l"/>
              <a:pathLst>
                <a:path h="924052" w="2670556">
                  <a:moveTo>
                    <a:pt x="0" y="462026"/>
                  </a:moveTo>
                  <a:cubicBezTo>
                    <a:pt x="0" y="206883"/>
                    <a:pt x="206883" y="0"/>
                    <a:pt x="462026" y="0"/>
                  </a:cubicBezTo>
                  <a:lnTo>
                    <a:pt x="2208657" y="0"/>
                  </a:lnTo>
                  <a:cubicBezTo>
                    <a:pt x="2463800" y="0"/>
                    <a:pt x="2670556" y="206883"/>
                    <a:pt x="2670556" y="462026"/>
                  </a:cubicBezTo>
                  <a:cubicBezTo>
                    <a:pt x="2670556" y="717169"/>
                    <a:pt x="2463800" y="924052"/>
                    <a:pt x="2208657" y="924052"/>
                  </a:cubicBezTo>
                  <a:lnTo>
                    <a:pt x="462026" y="924052"/>
                  </a:lnTo>
                  <a:cubicBezTo>
                    <a:pt x="206883" y="924052"/>
                    <a:pt x="0" y="717169"/>
                    <a:pt x="0" y="462026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77251" y="9160774"/>
            <a:ext cx="4044153" cy="500396"/>
            <a:chOff x="0" y="0"/>
            <a:chExt cx="5392204" cy="66719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92200" cy="667200"/>
            </a:xfrm>
            <a:custGeom>
              <a:avLst/>
              <a:gdLst/>
              <a:ahLst/>
              <a:cxnLst/>
              <a:rect r="r" b="b" t="t" l="l"/>
              <a:pathLst>
                <a:path h="6672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5" r="0" b="-10747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5392204" cy="714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Xem theo Ngày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77251" y="9622946"/>
            <a:ext cx="4044153" cy="423901"/>
            <a:chOff x="0" y="0"/>
            <a:chExt cx="5392204" cy="56520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92200" cy="565200"/>
            </a:xfrm>
            <a:custGeom>
              <a:avLst/>
              <a:gdLst/>
              <a:ahLst/>
              <a:cxnLst/>
              <a:rect r="r" b="b" t="t" l="l"/>
              <a:pathLst>
                <a:path h="5652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565200"/>
                  </a:lnTo>
                  <a:lnTo>
                    <a:pt x="0" y="5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93" r="0" b="-13589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92204" cy="6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7"/>
                </a:lnSpc>
              </a:pPr>
              <a:r>
                <a:rPr lang="en-US" sz="1789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DayScheduleView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4109" y="1659007"/>
            <a:ext cx="8978246" cy="319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ngày lễ công cộng Việt Nam theo năm từ API date.nager.at ngay trong màn hình này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Chạm lần thứ 2 vào một ngày để mở popup xem chi tiết toàn bộ sự kiện trong ngày đó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3640410" y="581349"/>
            <a:ext cx="2118598" cy="847354"/>
            <a:chOff x="0" y="0"/>
            <a:chExt cx="2824798" cy="11298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824800" cy="1129800"/>
            </a:xfrm>
            <a:custGeom>
              <a:avLst/>
              <a:gdLst/>
              <a:ahLst/>
              <a:cxnLst/>
              <a:rect r="r" b="b" t="t" l="l"/>
              <a:pathLst>
                <a:path h="1129800" w="2824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" t="0" r="-131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2824798" cy="117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Tuần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522126" y="581349"/>
            <a:ext cx="2118598" cy="847354"/>
            <a:chOff x="0" y="0"/>
            <a:chExt cx="2824798" cy="112980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24800" cy="1129800"/>
            </a:xfrm>
            <a:custGeom>
              <a:avLst/>
              <a:gdLst/>
              <a:ahLst/>
              <a:cxnLst/>
              <a:rect r="r" b="b" t="t" l="l"/>
              <a:pathLst>
                <a:path h="1129800" w="2824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6" t="0" r="-131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2824798" cy="1177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205079" y="2166595"/>
            <a:ext cx="2988497" cy="6638287"/>
            <a:chOff x="0" y="0"/>
            <a:chExt cx="3984663" cy="885104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84625" cy="8851011"/>
            </a:xfrm>
            <a:custGeom>
              <a:avLst/>
              <a:gdLst/>
              <a:ahLst/>
              <a:cxnLst/>
              <a:rect r="r" b="b" t="t" l="l"/>
              <a:pathLst>
                <a:path h="8851011" w="3984625">
                  <a:moveTo>
                    <a:pt x="0" y="0"/>
                  </a:moveTo>
                  <a:lnTo>
                    <a:pt x="3984625" y="0"/>
                  </a:lnTo>
                  <a:lnTo>
                    <a:pt x="3984625" y="8851011"/>
                  </a:lnTo>
                  <a:lnTo>
                    <a:pt x="0" y="8851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160084" y="2081136"/>
            <a:ext cx="1078649" cy="198901"/>
            <a:chOff x="0" y="0"/>
            <a:chExt cx="1438199" cy="26520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261180" y="5710085"/>
            <a:ext cx="2504075" cy="3799037"/>
            <a:chOff x="0" y="0"/>
            <a:chExt cx="3338766" cy="506538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38830" cy="5065395"/>
            </a:xfrm>
            <a:custGeom>
              <a:avLst/>
              <a:gdLst/>
              <a:ahLst/>
              <a:cxnLst/>
              <a:rect r="r" b="b" t="t" l="l"/>
              <a:pathLst>
                <a:path h="5065395" w="3338830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973898" y="5625494"/>
            <a:ext cx="1078649" cy="198901"/>
            <a:chOff x="0" y="0"/>
            <a:chExt cx="1438199" cy="26520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24679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530419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dateRang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269815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626440"/>
            <a:ext cx="8401498" cy="768153"/>
            <a:chOff x="0" y="0"/>
            <a:chExt cx="11201997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020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1202000">
                  <a:moveTo>
                    <a:pt x="0" y="0"/>
                  </a:moveTo>
                  <a:lnTo>
                    <a:pt x="11202000" y="0"/>
                  </a:lnTo>
                  <a:lnTo>
                    <a:pt x="112020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3" r="0" b="-1631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01997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Lịch trình — 3 chế độ xem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11398" y="1811426"/>
            <a:ext cx="3376089" cy="7201986"/>
            <a:chOff x="0" y="0"/>
            <a:chExt cx="4501452" cy="9602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01515" cy="9602724"/>
            </a:xfrm>
            <a:custGeom>
              <a:avLst/>
              <a:gdLst/>
              <a:ahLst/>
              <a:cxnLst/>
              <a:rect r="r" b="b" t="t" l="l"/>
              <a:pathLst>
                <a:path h="9602724" w="4501515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03266" y="568157"/>
            <a:ext cx="6391732" cy="884720"/>
            <a:chOff x="0" y="0"/>
            <a:chExt cx="8522310" cy="11796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22335" cy="1179576"/>
            </a:xfrm>
            <a:custGeom>
              <a:avLst/>
              <a:gdLst/>
              <a:ahLst/>
              <a:cxnLst/>
              <a:rect r="r" b="b" t="t" l="l"/>
              <a:pathLst>
                <a:path h="1179576" w="8522335">
                  <a:moveTo>
                    <a:pt x="0" y="589788"/>
                  </a:moveTo>
                  <a:cubicBezTo>
                    <a:pt x="0" y="264033"/>
                    <a:pt x="264033" y="0"/>
                    <a:pt x="589788" y="0"/>
                  </a:cubicBezTo>
                  <a:lnTo>
                    <a:pt x="7932547" y="0"/>
                  </a:lnTo>
                  <a:cubicBezTo>
                    <a:pt x="8258302" y="0"/>
                    <a:pt x="8522335" y="264033"/>
                    <a:pt x="8522335" y="589788"/>
                  </a:cubicBezTo>
                  <a:cubicBezTo>
                    <a:pt x="8522335" y="915543"/>
                    <a:pt x="8258302" y="1179576"/>
                    <a:pt x="7932547" y="1179576"/>
                  </a:cubicBezTo>
                  <a:lnTo>
                    <a:pt x="589788" y="1179576"/>
                  </a:lnTo>
                  <a:cubicBezTo>
                    <a:pt x="264033" y="1179576"/>
                    <a:pt x="0" y="915543"/>
                    <a:pt x="0" y="589788"/>
                  </a:cubicBezTo>
                  <a:close/>
                </a:path>
              </a:pathLst>
            </a:custGeom>
            <a:solidFill>
              <a:srgbClr val="FFFFFF"/>
            </a:solidFill>
            <a:ln w="2673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2040" y="586921"/>
            <a:ext cx="2118274" cy="847182"/>
            <a:chOff x="0" y="0"/>
            <a:chExt cx="2824366" cy="112957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24366" cy="1129578"/>
            </a:xfrm>
            <a:custGeom>
              <a:avLst/>
              <a:gdLst/>
              <a:ahLst/>
              <a:cxnLst/>
              <a:rect r="r" b="b" t="t" l="l"/>
              <a:pathLst>
                <a:path h="1129578" w="2824366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3" t="0" r="-131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824366" cy="1177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87799" y="674980"/>
            <a:ext cx="2002660" cy="693039"/>
            <a:chOff x="0" y="0"/>
            <a:chExt cx="2670213" cy="9240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70175" cy="924052"/>
            </a:xfrm>
            <a:custGeom>
              <a:avLst/>
              <a:gdLst/>
              <a:ahLst/>
              <a:cxnLst/>
              <a:rect r="r" b="b" t="t" l="l"/>
              <a:pathLst>
                <a:path h="924052" w="2670175">
                  <a:moveTo>
                    <a:pt x="0" y="462026"/>
                  </a:moveTo>
                  <a:cubicBezTo>
                    <a:pt x="0" y="206883"/>
                    <a:pt x="206883" y="0"/>
                    <a:pt x="462026" y="0"/>
                  </a:cubicBezTo>
                  <a:lnTo>
                    <a:pt x="2208149" y="0"/>
                  </a:lnTo>
                  <a:cubicBezTo>
                    <a:pt x="2463292" y="0"/>
                    <a:pt x="2670175" y="206883"/>
                    <a:pt x="2670175" y="462026"/>
                  </a:cubicBezTo>
                  <a:cubicBezTo>
                    <a:pt x="2670175" y="717169"/>
                    <a:pt x="2463292" y="924052"/>
                    <a:pt x="2208149" y="924052"/>
                  </a:cubicBezTo>
                  <a:lnTo>
                    <a:pt x="462026" y="924052"/>
                  </a:lnTo>
                  <a:cubicBezTo>
                    <a:pt x="206883" y="924052"/>
                    <a:pt x="0" y="717169"/>
                    <a:pt x="0" y="462026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640181" y="586921"/>
            <a:ext cx="2118274" cy="847182"/>
            <a:chOff x="0" y="0"/>
            <a:chExt cx="2824366" cy="112957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24366" cy="1129578"/>
            </a:xfrm>
            <a:custGeom>
              <a:avLst/>
              <a:gdLst/>
              <a:ahLst/>
              <a:cxnLst/>
              <a:rect r="r" b="b" t="t" l="l"/>
              <a:pathLst>
                <a:path h="1129578" w="2824366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3" t="0" r="-131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824366" cy="1177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Tuần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758350" y="586921"/>
            <a:ext cx="2118274" cy="847182"/>
            <a:chOff x="0" y="0"/>
            <a:chExt cx="2824366" cy="11295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24366" cy="1129578"/>
            </a:xfrm>
            <a:custGeom>
              <a:avLst/>
              <a:gdLst/>
              <a:ahLst/>
              <a:cxnLst/>
              <a:rect r="r" b="b" t="t" l="l"/>
              <a:pathLst>
                <a:path h="1129578" w="2824366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3" t="0" r="-131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824366" cy="1177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Tháng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77251" y="9193492"/>
            <a:ext cx="4044153" cy="500396"/>
            <a:chOff x="0" y="0"/>
            <a:chExt cx="5392204" cy="6671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92200" cy="667200"/>
            </a:xfrm>
            <a:custGeom>
              <a:avLst/>
              <a:gdLst/>
              <a:ahLst/>
              <a:cxnLst/>
              <a:rect r="r" b="b" t="t" l="l"/>
              <a:pathLst>
                <a:path h="6672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5" r="0" b="-1074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392204" cy="714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Xem theo Tuần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77251" y="9655702"/>
            <a:ext cx="4044153" cy="424348"/>
            <a:chOff x="0" y="0"/>
            <a:chExt cx="5392204" cy="56579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2200" cy="565800"/>
            </a:xfrm>
            <a:custGeom>
              <a:avLst/>
              <a:gdLst/>
              <a:ahLst/>
              <a:cxnLst/>
              <a:rect r="r" b="b" t="t" l="l"/>
              <a:pathLst>
                <a:path h="5658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565800"/>
                  </a:lnTo>
                  <a:lnTo>
                    <a:pt x="0" y="56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697" r="0" b="-13569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392204" cy="6038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7"/>
                </a:lnSpc>
              </a:pPr>
              <a:r>
                <a:rPr lang="en-US" sz="1789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WeekScheduleView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245189" y="2200608"/>
            <a:ext cx="2908278" cy="3858635"/>
            <a:chOff x="0" y="0"/>
            <a:chExt cx="3877704" cy="51448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77691" cy="5144897"/>
            </a:xfrm>
            <a:custGeom>
              <a:avLst/>
              <a:gdLst/>
              <a:ahLst/>
              <a:cxnLst/>
              <a:rect r="r" b="b" t="t" l="l"/>
              <a:pathLst>
                <a:path h="5144897" w="3877691">
                  <a:moveTo>
                    <a:pt x="0" y="0"/>
                  </a:moveTo>
                  <a:lnTo>
                    <a:pt x="3877691" y="0"/>
                  </a:lnTo>
                  <a:lnTo>
                    <a:pt x="3877691" y="5144897"/>
                  </a:lnTo>
                  <a:lnTo>
                    <a:pt x="0" y="514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504" b="-17593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160084" y="2081136"/>
            <a:ext cx="1078649" cy="198901"/>
            <a:chOff x="0" y="0"/>
            <a:chExt cx="1438199" cy="26520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245189" y="5928484"/>
            <a:ext cx="2908278" cy="2870044"/>
            <a:chOff x="0" y="0"/>
            <a:chExt cx="3877704" cy="382672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77691" cy="3826764"/>
            </a:xfrm>
            <a:custGeom>
              <a:avLst/>
              <a:gdLst/>
              <a:ahLst/>
              <a:cxnLst/>
              <a:rect r="r" b="b" t="t" l="l"/>
              <a:pathLst>
                <a:path h="3826764" w="3877691">
                  <a:moveTo>
                    <a:pt x="0" y="0"/>
                  </a:moveTo>
                  <a:lnTo>
                    <a:pt x="3877691" y="0"/>
                  </a:lnTo>
                  <a:lnTo>
                    <a:pt x="3877691" y="3826764"/>
                  </a:lnTo>
                  <a:lnTo>
                    <a:pt x="0" y="3826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67951" r="0" b="-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005615" y="5440070"/>
            <a:ext cx="3015186" cy="4339085"/>
            <a:chOff x="0" y="0"/>
            <a:chExt cx="4020248" cy="578544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020312" cy="5785485"/>
            </a:xfrm>
            <a:custGeom>
              <a:avLst/>
              <a:gdLst/>
              <a:ahLst/>
              <a:cxnLst/>
              <a:rect r="r" b="b" t="t" l="l"/>
              <a:pathLst>
                <a:path h="5785485" w="4020312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1024109" y="1659007"/>
            <a:ext cx="8978246" cy="319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ngày lễ công cộng Việt Nam theo năm từ API date.nager.at ngay trong màn hình này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Chạm lần thứ 2 vào một ngày để mở popup xem chi tiết toàn bộ sự kiện trong ngày đó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261180" y="5710085"/>
            <a:ext cx="2504075" cy="3799037"/>
            <a:chOff x="0" y="0"/>
            <a:chExt cx="3338766" cy="506538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38830" cy="5065395"/>
            </a:xfrm>
            <a:custGeom>
              <a:avLst/>
              <a:gdLst/>
              <a:ahLst/>
              <a:cxnLst/>
              <a:rect r="r" b="b" t="t" l="l"/>
              <a:pathLst>
                <a:path h="5065395" w="3338830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005615" y="5440070"/>
            <a:ext cx="3015186" cy="4339085"/>
            <a:chOff x="0" y="0"/>
            <a:chExt cx="4020248" cy="57854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20312" cy="5785485"/>
            </a:xfrm>
            <a:custGeom>
              <a:avLst/>
              <a:gdLst/>
              <a:ahLst/>
              <a:cxnLst/>
              <a:rect r="r" b="b" t="t" l="l"/>
              <a:pathLst>
                <a:path h="5785485" w="4020312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024109" y="1659007"/>
            <a:ext cx="8978246" cy="319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ngày lễ công cộng Việt Nam theo năm từ API date.nager.at ngay trong màn hình này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Chạm lần thứ 2 vào một ngày để mở popup xem chi tiết toàn bộ sự kiện trong ngày đó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4261180" y="5710085"/>
            <a:ext cx="2504075" cy="3799037"/>
            <a:chOff x="0" y="0"/>
            <a:chExt cx="3338766" cy="506538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38830" cy="5065395"/>
            </a:xfrm>
            <a:custGeom>
              <a:avLst/>
              <a:gdLst/>
              <a:ahLst/>
              <a:cxnLst/>
              <a:rect r="r" b="b" t="t" l="l"/>
              <a:pathLst>
                <a:path h="5065395" w="3338830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973898" y="5625494"/>
            <a:ext cx="1078649" cy="198901"/>
            <a:chOff x="0" y="0"/>
            <a:chExt cx="1438199" cy="26520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24679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530419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dateRange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269815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626440"/>
            <a:ext cx="8401498" cy="768153"/>
            <a:chOff x="0" y="0"/>
            <a:chExt cx="11201997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020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1202000">
                  <a:moveTo>
                    <a:pt x="0" y="0"/>
                  </a:moveTo>
                  <a:lnTo>
                    <a:pt x="11202000" y="0"/>
                  </a:lnTo>
                  <a:lnTo>
                    <a:pt x="112020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113" r="0" b="-16311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1201997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Lịch trình — 3 chế độ xem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011398" y="1811426"/>
            <a:ext cx="3376089" cy="7201986"/>
            <a:chOff x="0" y="0"/>
            <a:chExt cx="4501452" cy="9602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01515" cy="9602724"/>
            </a:xfrm>
            <a:custGeom>
              <a:avLst/>
              <a:gdLst/>
              <a:ahLst/>
              <a:cxnLst/>
              <a:rect r="r" b="b" t="t" l="l"/>
              <a:pathLst>
                <a:path h="9602724" w="4501515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490770" y="566347"/>
            <a:ext cx="6416926" cy="888349"/>
            <a:chOff x="0" y="0"/>
            <a:chExt cx="8555901" cy="11844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55863" cy="1184402"/>
            </a:xfrm>
            <a:custGeom>
              <a:avLst/>
              <a:gdLst/>
              <a:ahLst/>
              <a:cxnLst/>
              <a:rect r="r" b="b" t="t" l="l"/>
              <a:pathLst>
                <a:path h="1184402" w="8555863">
                  <a:moveTo>
                    <a:pt x="0" y="592201"/>
                  </a:moveTo>
                  <a:cubicBezTo>
                    <a:pt x="0" y="265176"/>
                    <a:pt x="265176" y="0"/>
                    <a:pt x="592201" y="0"/>
                  </a:cubicBezTo>
                  <a:lnTo>
                    <a:pt x="7963662" y="0"/>
                  </a:lnTo>
                  <a:cubicBezTo>
                    <a:pt x="8290687" y="0"/>
                    <a:pt x="8555863" y="265176"/>
                    <a:pt x="8555863" y="592201"/>
                  </a:cubicBezTo>
                  <a:cubicBezTo>
                    <a:pt x="8555863" y="919226"/>
                    <a:pt x="8290687" y="1184402"/>
                    <a:pt x="7963662" y="1184402"/>
                  </a:cubicBezTo>
                  <a:lnTo>
                    <a:pt x="592201" y="1184402"/>
                  </a:lnTo>
                  <a:cubicBezTo>
                    <a:pt x="265176" y="1184402"/>
                    <a:pt x="0" y="919353"/>
                    <a:pt x="0" y="592201"/>
                  </a:cubicBezTo>
                  <a:close/>
                </a:path>
              </a:pathLst>
            </a:custGeom>
            <a:solidFill>
              <a:srgbClr val="FFFFFF"/>
            </a:solidFill>
            <a:ln w="268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509696" y="585273"/>
            <a:ext cx="2126571" cy="850506"/>
            <a:chOff x="0" y="0"/>
            <a:chExt cx="2835427" cy="11340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35431" cy="1134004"/>
            </a:xfrm>
            <a:custGeom>
              <a:avLst/>
              <a:gdLst/>
              <a:ahLst/>
              <a:cxnLst/>
              <a:rect r="r" b="b" t="t" l="l"/>
              <a:pathLst>
                <a:path h="1134004" w="2835431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4" t="0" r="-131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835427" cy="1181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36142" y="585273"/>
            <a:ext cx="2126571" cy="850506"/>
            <a:chOff x="0" y="0"/>
            <a:chExt cx="2835427" cy="1134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35431" cy="1134004"/>
            </a:xfrm>
            <a:custGeom>
              <a:avLst/>
              <a:gdLst/>
              <a:ahLst/>
              <a:cxnLst/>
              <a:rect r="r" b="b" t="t" l="l"/>
              <a:pathLst>
                <a:path h="1134004" w="2835431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4" t="0" r="-131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835427" cy="1181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6B688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Tuần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820577" y="662597"/>
            <a:ext cx="2010508" cy="695754"/>
            <a:chOff x="0" y="0"/>
            <a:chExt cx="2680678" cy="9276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80589" cy="927608"/>
            </a:xfrm>
            <a:custGeom>
              <a:avLst/>
              <a:gdLst/>
              <a:ahLst/>
              <a:cxnLst/>
              <a:rect r="r" b="b" t="t" l="l"/>
              <a:pathLst>
                <a:path h="927608" w="2680589">
                  <a:moveTo>
                    <a:pt x="0" y="463804"/>
                  </a:moveTo>
                  <a:cubicBezTo>
                    <a:pt x="0" y="207645"/>
                    <a:pt x="207645" y="0"/>
                    <a:pt x="463804" y="0"/>
                  </a:cubicBezTo>
                  <a:lnTo>
                    <a:pt x="2216785" y="0"/>
                  </a:lnTo>
                  <a:cubicBezTo>
                    <a:pt x="2472944" y="0"/>
                    <a:pt x="2680589" y="207645"/>
                    <a:pt x="2680589" y="463804"/>
                  </a:cubicBezTo>
                  <a:cubicBezTo>
                    <a:pt x="2680589" y="719963"/>
                    <a:pt x="2472944" y="927608"/>
                    <a:pt x="2216785" y="927608"/>
                  </a:cubicBezTo>
                  <a:lnTo>
                    <a:pt x="463804" y="927608"/>
                  </a:lnTo>
                  <a:cubicBezTo>
                    <a:pt x="207645" y="927608"/>
                    <a:pt x="0" y="719963"/>
                    <a:pt x="0" y="46380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762589" y="585273"/>
            <a:ext cx="2126571" cy="850506"/>
            <a:chOff x="0" y="0"/>
            <a:chExt cx="2835427" cy="11340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835431" cy="1134004"/>
            </a:xfrm>
            <a:custGeom>
              <a:avLst/>
              <a:gdLst/>
              <a:ahLst/>
              <a:cxnLst/>
              <a:rect r="r" b="b" t="t" l="l"/>
              <a:pathLst>
                <a:path h="1134004" w="2835431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4" t="0" r="-131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835427" cy="1181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b="true" sz="23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Tháng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77270" y="9160707"/>
            <a:ext cx="4044153" cy="500396"/>
            <a:chOff x="0" y="0"/>
            <a:chExt cx="5392204" cy="6671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92200" cy="667200"/>
            </a:xfrm>
            <a:custGeom>
              <a:avLst/>
              <a:gdLst/>
              <a:ahLst/>
              <a:cxnLst/>
              <a:rect r="r" b="b" t="t" l="l"/>
              <a:pathLst>
                <a:path h="6672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475" r="0" b="-10747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5392204" cy="7148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9"/>
                </a:lnSpc>
              </a:pPr>
              <a:r>
                <a:rPr lang="en-US" b="true" sz="2316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Xem theo Tháng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77270" y="9622898"/>
            <a:ext cx="4044153" cy="423901"/>
            <a:chOff x="0" y="0"/>
            <a:chExt cx="5392204" cy="5652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92200" cy="565200"/>
            </a:xfrm>
            <a:custGeom>
              <a:avLst/>
              <a:gdLst/>
              <a:ahLst/>
              <a:cxnLst/>
              <a:rect r="r" b="b" t="t" l="l"/>
              <a:pathLst>
                <a:path h="565200" w="5392200">
                  <a:moveTo>
                    <a:pt x="0" y="0"/>
                  </a:moveTo>
                  <a:lnTo>
                    <a:pt x="5392200" y="0"/>
                  </a:lnTo>
                  <a:lnTo>
                    <a:pt x="5392200" y="565200"/>
                  </a:lnTo>
                  <a:lnTo>
                    <a:pt x="0" y="5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893" r="0" b="-13589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392204" cy="603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7"/>
                </a:lnSpc>
              </a:pPr>
              <a:r>
                <a:rPr lang="en-US" sz="1789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MonthScheduleView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328666" y="2015233"/>
            <a:ext cx="2741362" cy="4234615"/>
            <a:chOff x="0" y="0"/>
            <a:chExt cx="3655149" cy="56461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5187" cy="5646166"/>
            </a:xfrm>
            <a:custGeom>
              <a:avLst/>
              <a:gdLst/>
              <a:ahLst/>
              <a:cxnLst/>
              <a:rect r="r" b="b" t="t" l="l"/>
              <a:pathLst>
                <a:path h="5646166" w="3655187">
                  <a:moveTo>
                    <a:pt x="0" y="0"/>
                  </a:moveTo>
                  <a:lnTo>
                    <a:pt x="3655187" y="0"/>
                  </a:lnTo>
                  <a:lnTo>
                    <a:pt x="3655187" y="5646166"/>
                  </a:lnTo>
                  <a:lnTo>
                    <a:pt x="0" y="5646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-97882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4160103" y="1966617"/>
            <a:ext cx="1078649" cy="198901"/>
            <a:chOff x="0" y="0"/>
            <a:chExt cx="1438199" cy="26520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328666" y="6249867"/>
            <a:ext cx="2741362" cy="2610317"/>
            <a:chOff x="0" y="0"/>
            <a:chExt cx="3655149" cy="348042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5187" cy="3480435"/>
            </a:xfrm>
            <a:custGeom>
              <a:avLst/>
              <a:gdLst/>
              <a:ahLst/>
              <a:cxnLst/>
              <a:rect r="r" b="b" t="t" l="l"/>
              <a:pathLst>
                <a:path h="3480435" w="3655187">
                  <a:moveTo>
                    <a:pt x="0" y="0"/>
                  </a:moveTo>
                  <a:lnTo>
                    <a:pt x="3655187" y="0"/>
                  </a:lnTo>
                  <a:lnTo>
                    <a:pt x="3655187" y="3480435"/>
                  </a:lnTo>
                  <a:lnTo>
                    <a:pt x="0" y="3480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1013" r="1" b="-2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973898" y="5625494"/>
            <a:ext cx="1078649" cy="198901"/>
            <a:chOff x="0" y="0"/>
            <a:chExt cx="1438199" cy="26520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005615" y="5440070"/>
            <a:ext cx="3015186" cy="4339085"/>
            <a:chOff x="0" y="0"/>
            <a:chExt cx="4020248" cy="57854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0312" cy="5785485"/>
            </a:xfrm>
            <a:custGeom>
              <a:avLst/>
              <a:gdLst/>
              <a:ahLst/>
              <a:cxnLst/>
              <a:rect r="r" b="b" t="t" l="l"/>
              <a:pathLst>
                <a:path h="5785485" w="4020312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024109" y="1659007"/>
            <a:ext cx="8978246" cy="319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ngày lễ công cộng Việt Nam theo năm từ API date.nager.at ngay trong màn hình này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Chạm lần thứ 2 vào một ngày để mở popup xem chi tiết toàn bộ sự kiện trong ngày đó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4261180" y="5710085"/>
            <a:ext cx="2504075" cy="3799037"/>
            <a:chOff x="0" y="0"/>
            <a:chExt cx="3338766" cy="50653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38830" cy="5065395"/>
            </a:xfrm>
            <a:custGeom>
              <a:avLst/>
              <a:gdLst/>
              <a:ahLst/>
              <a:cxnLst/>
              <a:rect r="r" b="b" t="t" l="l"/>
              <a:pathLst>
                <a:path h="5065395" w="3338830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005615" y="5440070"/>
            <a:ext cx="3015186" cy="4339085"/>
            <a:chOff x="0" y="0"/>
            <a:chExt cx="4020248" cy="57854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20312" cy="5785485"/>
            </a:xfrm>
            <a:custGeom>
              <a:avLst/>
              <a:gdLst/>
              <a:ahLst/>
              <a:cxnLst/>
              <a:rect r="r" b="b" t="t" l="l"/>
              <a:pathLst>
                <a:path h="5785485" w="4020312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w="26738" cap="sq">
              <a:solidFill>
                <a:srgbClr val="0B0A1C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024109" y="1659007"/>
            <a:ext cx="8978246" cy="319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ngày lễ công cộng Việt Nam theo năm từ API date.nager.at ngay trong màn hình này</a:t>
            </a:r>
          </a:p>
          <a:p>
            <a:pPr algn="l" marL="404336" indent="-202168" lvl="1">
              <a:lnSpc>
                <a:spcPts val="3755"/>
              </a:lnSpc>
              <a:buFont typeface="Arial"/>
              <a:buChar char="•"/>
            </a:pPr>
            <a:r>
              <a:rPr lang="en-US" sz="25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Chạm lần thứ 2 vào một ngày để mở popup xem chi tiết toàn bộ sự kiện trong ngày đó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4261180" y="5710085"/>
            <a:ext cx="2504075" cy="3799037"/>
            <a:chOff x="0" y="0"/>
            <a:chExt cx="3338766" cy="506538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338830" cy="5065395"/>
            </a:xfrm>
            <a:custGeom>
              <a:avLst/>
              <a:gdLst/>
              <a:ahLst/>
              <a:cxnLst/>
              <a:rect r="r" b="b" t="t" l="l"/>
              <a:pathLst>
                <a:path h="5065395" w="3338830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973898" y="5625494"/>
            <a:ext cx="1078649" cy="198901"/>
            <a:chOff x="0" y="0"/>
            <a:chExt cx="1438199" cy="26520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38148" cy="265176"/>
            </a:xfrm>
            <a:custGeom>
              <a:avLst/>
              <a:gdLst/>
              <a:ahLst/>
              <a:cxnLst/>
              <a:rect r="r" b="b" t="t" l="l"/>
              <a:pathLst>
                <a:path h="265176" w="1438148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edi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Thêm / Chỉnh sửa sự kiện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66109" y="1887112"/>
            <a:ext cx="4044448" cy="6843446"/>
            <a:chOff x="0" y="0"/>
            <a:chExt cx="5392598" cy="9124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392547" cy="9124569"/>
            </a:xfrm>
            <a:custGeom>
              <a:avLst/>
              <a:gdLst/>
              <a:ahLst/>
              <a:cxnLst/>
              <a:rect r="r" b="b" t="t" l="l"/>
              <a:pathLst>
                <a:path h="9124569" w="5392547">
                  <a:moveTo>
                    <a:pt x="0" y="551815"/>
                  </a:moveTo>
                  <a:cubicBezTo>
                    <a:pt x="0" y="247015"/>
                    <a:pt x="247015" y="0"/>
                    <a:pt x="551815" y="0"/>
                  </a:cubicBezTo>
                  <a:lnTo>
                    <a:pt x="4840732" y="0"/>
                  </a:lnTo>
                  <a:cubicBezTo>
                    <a:pt x="5145532" y="0"/>
                    <a:pt x="5392547" y="247015"/>
                    <a:pt x="5392547" y="551815"/>
                  </a:cubicBezTo>
                  <a:lnTo>
                    <a:pt x="5392547" y="8572754"/>
                  </a:lnTo>
                  <a:cubicBezTo>
                    <a:pt x="5392547" y="8877554"/>
                    <a:pt x="5145532" y="9124569"/>
                    <a:pt x="4840732" y="9124569"/>
                  </a:cubicBezTo>
                  <a:lnTo>
                    <a:pt x="551815" y="9124569"/>
                  </a:lnTo>
                  <a:cubicBezTo>
                    <a:pt x="247015" y="9124569"/>
                    <a:pt x="0" y="8877554"/>
                    <a:pt x="0" y="8572754"/>
                  </a:cubicBezTo>
                  <a:close/>
                </a:path>
              </a:pathLst>
            </a:custGeom>
            <a:solidFill>
              <a:srgbClr val="17142E"/>
            </a:solidFill>
            <a:ln w="259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604772" y="8861955"/>
            <a:ext cx="4076100" cy="385201"/>
            <a:chOff x="0" y="0"/>
            <a:chExt cx="5434800" cy="5136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34800" cy="513600"/>
            </a:xfrm>
            <a:custGeom>
              <a:avLst/>
              <a:gdLst/>
              <a:ahLst/>
              <a:cxnLst/>
              <a:rect r="r" b="b" t="t" l="l"/>
              <a:pathLst>
                <a:path h="513600" w="5434800">
                  <a:moveTo>
                    <a:pt x="0" y="0"/>
                  </a:moveTo>
                  <a:lnTo>
                    <a:pt x="5434800" y="0"/>
                  </a:lnTo>
                  <a:lnTo>
                    <a:pt x="5434800" y="513600"/>
                  </a:lnTo>
                  <a:lnTo>
                    <a:pt x="0" y="51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186" r="0" b="-1561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34800" cy="551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0"/>
                </a:lnSpc>
              </a:pPr>
              <a:r>
                <a:rPr lang="en-US" b="true" sz="1783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AddEventScreen.kt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4772" y="9217714"/>
            <a:ext cx="4076100" cy="326250"/>
            <a:chOff x="0" y="0"/>
            <a:chExt cx="5434800" cy="43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4800" cy="435000"/>
            </a:xfrm>
            <a:custGeom>
              <a:avLst/>
              <a:gdLst/>
              <a:ahLst/>
              <a:cxnLst/>
              <a:rect r="r" b="b" t="t" l="l"/>
              <a:pathLst>
                <a:path h="435000" w="5434800">
                  <a:moveTo>
                    <a:pt x="0" y="0"/>
                  </a:moveTo>
                  <a:lnTo>
                    <a:pt x="5434800" y="0"/>
                  </a:lnTo>
                  <a:lnTo>
                    <a:pt x="5434800" y="435000"/>
                  </a:lnTo>
                  <a:lnTo>
                    <a:pt x="0" y="4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41" r="0" b="-1934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434800" cy="46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4"/>
                </a:lnSpc>
              </a:pPr>
              <a:r>
                <a:rPr lang="en-US" sz="1378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Dùng chung cho Thêm &amp; Sửa sự kiện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983847" y="2256225"/>
            <a:ext cx="630898" cy="630898"/>
            <a:chOff x="0" y="0"/>
            <a:chExt cx="841197" cy="8411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27865" y="2400243"/>
            <a:ext cx="342900" cy="342900"/>
            <a:chOff x="0" y="0"/>
            <a:chExt cx="457200" cy="457200"/>
          </a:xfrm>
        </p:grpSpPr>
        <p:sp>
          <p:nvSpPr>
            <p:cNvPr name="Freeform 29" id="29" descr="/home/claude/icons/even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34239" y="2215077"/>
            <a:ext cx="11950646" cy="438750"/>
            <a:chOff x="0" y="0"/>
            <a:chExt cx="15934195" cy="585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Tiêu đề sự kiện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34239" y="2640273"/>
            <a:ext cx="11950646" cy="575996"/>
            <a:chOff x="0" y="0"/>
            <a:chExt cx="15934195" cy="7679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Bắt buộc nhập, hiển thị cảnh báo nếu bỏ trống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983847" y="3326073"/>
            <a:ext cx="630898" cy="630898"/>
            <a:chOff x="0" y="0"/>
            <a:chExt cx="841197" cy="84119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27865" y="3470091"/>
            <a:ext cx="342900" cy="342900"/>
            <a:chOff x="0" y="0"/>
            <a:chExt cx="457200" cy="457200"/>
          </a:xfrm>
        </p:grpSpPr>
        <p:sp>
          <p:nvSpPr>
            <p:cNvPr name="Freeform 39" id="39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34239" y="3284925"/>
            <a:ext cx="11950646" cy="438750"/>
            <a:chOff x="0" y="0"/>
            <a:chExt cx="15934195" cy="585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 diễn ra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34239" y="3710121"/>
            <a:ext cx="11950646" cy="575996"/>
            <a:chOff x="0" y="0"/>
            <a:chExt cx="15934195" cy="767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 picker + phím tắt “Hôm nay / Ngày mai / Ngày kia”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83847" y="5383597"/>
            <a:ext cx="630898" cy="630898"/>
            <a:chOff x="0" y="0"/>
            <a:chExt cx="841197" cy="8411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127865" y="5527615"/>
            <a:ext cx="342900" cy="342900"/>
            <a:chOff x="0" y="0"/>
            <a:chExt cx="457200" cy="457200"/>
          </a:xfrm>
        </p:grpSpPr>
        <p:sp>
          <p:nvSpPr>
            <p:cNvPr name="Freeform 49" id="49" descr="/home/claude/icons/tim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34239" y="5342449"/>
            <a:ext cx="11950646" cy="438750"/>
            <a:chOff x="0" y="0"/>
            <a:chExt cx="15934195" cy="585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Khung giờ bắt đầu – kết thúc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34239" y="5767645"/>
            <a:ext cx="11950646" cy="575996"/>
            <a:chOff x="0" y="0"/>
            <a:chExt cx="15934195" cy="76799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Tự tính thời lượng, có nút nhanh ±1 giờ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983847" y="6453445"/>
            <a:ext cx="630898" cy="630898"/>
            <a:chOff x="0" y="0"/>
            <a:chExt cx="841197" cy="8411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27865" y="6597463"/>
            <a:ext cx="342900" cy="342900"/>
            <a:chOff x="0" y="0"/>
            <a:chExt cx="457200" cy="457200"/>
          </a:xfrm>
        </p:grpSpPr>
        <p:sp>
          <p:nvSpPr>
            <p:cNvPr name="Freeform 59" id="59" descr="/home/claude/icons/categor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834239" y="6412297"/>
            <a:ext cx="11950646" cy="438750"/>
            <a:chOff x="0" y="0"/>
            <a:chExt cx="15934195" cy="585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Danh mục sự kiện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34239" y="6837493"/>
            <a:ext cx="11950646" cy="575996"/>
            <a:chOff x="0" y="0"/>
            <a:chExt cx="15934195" cy="76799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Chọn 1 trong các danh mục có màu sắc riêng biệt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983847" y="7523293"/>
            <a:ext cx="630898" cy="630898"/>
            <a:chOff x="0" y="0"/>
            <a:chExt cx="841197" cy="84119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127865" y="7667311"/>
            <a:ext cx="342900" cy="342900"/>
            <a:chOff x="0" y="0"/>
            <a:chExt cx="457200" cy="457200"/>
          </a:xfrm>
        </p:grpSpPr>
        <p:sp>
          <p:nvSpPr>
            <p:cNvPr name="Freeform 69" id="69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834239" y="7482145"/>
            <a:ext cx="11950646" cy="438750"/>
            <a:chOff x="0" y="0"/>
            <a:chExt cx="15934195" cy="585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Ghi chú chi tiết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34239" y="7907341"/>
            <a:ext cx="11950646" cy="575996"/>
            <a:chOff x="0" y="0"/>
            <a:chExt cx="15934195" cy="76799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Địa điểm, nội dung chuẩn bị (tuỳ chọn)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983847" y="8593141"/>
            <a:ext cx="630898" cy="630898"/>
            <a:chOff x="0" y="0"/>
            <a:chExt cx="841197" cy="84119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127865" y="8737159"/>
            <a:ext cx="342900" cy="342900"/>
            <a:chOff x="0" y="0"/>
            <a:chExt cx="457200" cy="457200"/>
          </a:xfrm>
        </p:grpSpPr>
        <p:sp>
          <p:nvSpPr>
            <p:cNvPr name="Freeform 79" id="79" descr="/home/claude/icons/bell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34239" y="8551993"/>
            <a:ext cx="11950646" cy="438750"/>
            <a:chOff x="0" y="0"/>
            <a:chExt cx="15934195" cy="585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Thông báo nhắc nhở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834239" y="8977189"/>
            <a:ext cx="11950646" cy="575996"/>
            <a:chOff x="0" y="0"/>
            <a:chExt cx="15934195" cy="76799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Bật/tắt và chọn thời gian nhắc trước sự kiện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051133" y="2212353"/>
            <a:ext cx="3673973" cy="6182697"/>
            <a:chOff x="0" y="0"/>
            <a:chExt cx="4898631" cy="824359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898644" cy="8243570"/>
            </a:xfrm>
            <a:custGeom>
              <a:avLst/>
              <a:gdLst/>
              <a:ahLst/>
              <a:cxnLst/>
              <a:rect r="r" b="b" t="t" l="l"/>
              <a:pathLst>
                <a:path h="8243570" w="4898644">
                  <a:moveTo>
                    <a:pt x="0" y="0"/>
                  </a:moveTo>
                  <a:lnTo>
                    <a:pt x="4898644" y="0"/>
                  </a:lnTo>
                  <a:lnTo>
                    <a:pt x="4898644" y="8243570"/>
                  </a:lnTo>
                  <a:lnTo>
                    <a:pt x="0" y="8243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111284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3347371" y="2155546"/>
            <a:ext cx="1081354" cy="173698"/>
            <a:chOff x="0" y="0"/>
            <a:chExt cx="1441806" cy="23159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41831" cy="231648"/>
            </a:xfrm>
            <a:custGeom>
              <a:avLst/>
              <a:gdLst/>
              <a:ahLst/>
              <a:cxnLst/>
              <a:rect r="r" b="b" t="t" l="l"/>
              <a:pathLst>
                <a:path h="231648" w="1441831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326007" y="0"/>
                  </a:lnTo>
                  <a:cubicBezTo>
                    <a:pt x="1390015" y="0"/>
                    <a:pt x="1441831" y="51816"/>
                    <a:pt x="1441831" y="115824"/>
                  </a:cubicBezTo>
                  <a:cubicBezTo>
                    <a:pt x="1441831" y="179832"/>
                    <a:pt x="1390015" y="231648"/>
                    <a:pt x="1326007" y="231648"/>
                  </a:cubicBezTo>
                  <a:lnTo>
                    <a:pt x="115824" y="231648"/>
                  </a:lnTo>
                  <a:cubicBezTo>
                    <a:pt x="51816" y="231648"/>
                    <a:pt x="0" y="179705"/>
                    <a:pt x="0" y="115824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54170" y="3721313"/>
            <a:ext cx="630898" cy="630898"/>
            <a:chOff x="0" y="0"/>
            <a:chExt cx="841197" cy="84119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98188" y="3865331"/>
            <a:ext cx="342900" cy="342900"/>
            <a:chOff x="0" y="0"/>
            <a:chExt cx="457200" cy="457200"/>
          </a:xfrm>
        </p:grpSpPr>
        <p:sp>
          <p:nvSpPr>
            <p:cNvPr name="Freeform 93" id="93" descr="/home/claude/icons/even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2230669" y="3435620"/>
            <a:ext cx="3319539" cy="1202284"/>
            <a:chOff x="0" y="0"/>
            <a:chExt cx="4426052" cy="160304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426077" cy="1602994"/>
            </a:xfrm>
            <a:custGeom>
              <a:avLst/>
              <a:gdLst/>
              <a:ahLst/>
              <a:cxnLst/>
              <a:rect r="r" b="b" t="t" l="l"/>
              <a:pathLst>
                <a:path h="1602994" w="4426077">
                  <a:moveTo>
                    <a:pt x="0" y="0"/>
                  </a:moveTo>
                  <a:lnTo>
                    <a:pt x="4426077" y="0"/>
                  </a:lnTo>
                  <a:lnTo>
                    <a:pt x="4426077" y="1602994"/>
                  </a:lnTo>
                  <a:lnTo>
                    <a:pt x="0" y="16029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98" r="0" b="-3802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sp>
        <p:nvSpPr>
          <p:cNvPr name="AutoShape 96" id="96"/>
          <p:cNvSpPr/>
          <p:nvPr/>
        </p:nvSpPr>
        <p:spPr>
          <a:xfrm rot="56640">
            <a:off x="1377867" y="4031999"/>
            <a:ext cx="867156" cy="9525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7" id="97"/>
          <p:cNvGrpSpPr/>
          <p:nvPr/>
        </p:nvGrpSpPr>
        <p:grpSpPr>
          <a:xfrm rot="0">
            <a:off x="2228269" y="4707693"/>
            <a:ext cx="3319539" cy="1978990"/>
            <a:chOff x="0" y="0"/>
            <a:chExt cx="4426052" cy="263865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426077" cy="2638679"/>
            </a:xfrm>
            <a:custGeom>
              <a:avLst/>
              <a:gdLst/>
              <a:ahLst/>
              <a:cxnLst/>
              <a:rect r="r" b="b" t="t" l="l"/>
              <a:pathLst>
                <a:path h="2638679" w="4426077">
                  <a:moveTo>
                    <a:pt x="0" y="0"/>
                  </a:moveTo>
                  <a:lnTo>
                    <a:pt x="4426077" y="0"/>
                  </a:lnTo>
                  <a:lnTo>
                    <a:pt x="4426077" y="2638679"/>
                  </a:lnTo>
                  <a:lnTo>
                    <a:pt x="0" y="26386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489" t="0" r="-26489" b="0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8983847" y="4354830"/>
            <a:ext cx="630898" cy="630898"/>
            <a:chOff x="0" y="0"/>
            <a:chExt cx="841197" cy="84119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834239" y="4313682"/>
            <a:ext cx="11950646" cy="438750"/>
            <a:chOff x="0" y="0"/>
            <a:chExt cx="15934195" cy="585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Thiết lập chu kỳ 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834239" y="4738878"/>
            <a:ext cx="11950646" cy="575996"/>
            <a:chOff x="0" y="0"/>
            <a:chExt cx="15934195" cy="76799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chọn các thứ trong tuần để tạo chuỗi sự kiện lặp lại. 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051446" y="4382291"/>
            <a:ext cx="630898" cy="575996"/>
            <a:chOff x="0" y="0"/>
            <a:chExt cx="841197" cy="76799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41200" cy="768000"/>
            </a:xfrm>
            <a:custGeom>
              <a:avLst/>
              <a:gdLst/>
              <a:ahLst/>
              <a:cxnLst/>
              <a:rect r="r" b="b" t="t" l="l"/>
              <a:pathLst>
                <a:path h="768000" w="8412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38" t="0" r="-67137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841197" cy="815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↺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54209" y="5335610"/>
            <a:ext cx="630898" cy="630898"/>
            <a:chOff x="0" y="0"/>
            <a:chExt cx="841197" cy="84119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898227" y="5479628"/>
            <a:ext cx="342900" cy="342900"/>
            <a:chOff x="0" y="0"/>
            <a:chExt cx="457200" cy="457200"/>
          </a:xfrm>
        </p:grpSpPr>
        <p:sp>
          <p:nvSpPr>
            <p:cNvPr name="Freeform 113" id="113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AutoShape 114" id="114"/>
          <p:cNvSpPr/>
          <p:nvPr/>
        </p:nvSpPr>
        <p:spPr>
          <a:xfrm rot="56640">
            <a:off x="1391850" y="5646296"/>
            <a:ext cx="867156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5" id="115"/>
          <p:cNvGrpSpPr/>
          <p:nvPr/>
        </p:nvGrpSpPr>
        <p:grpSpPr>
          <a:xfrm rot="0">
            <a:off x="6785296" y="7165534"/>
            <a:ext cx="630898" cy="630898"/>
            <a:chOff x="0" y="0"/>
            <a:chExt cx="841197" cy="841197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6852895" y="7192985"/>
            <a:ext cx="630898" cy="575996"/>
            <a:chOff x="0" y="0"/>
            <a:chExt cx="841197" cy="76799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41200" cy="768000"/>
            </a:xfrm>
            <a:custGeom>
              <a:avLst/>
              <a:gdLst/>
              <a:ahLst/>
              <a:cxnLst/>
              <a:rect r="r" b="b" t="t" l="l"/>
              <a:pathLst>
                <a:path h="768000" w="8412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38" t="0" r="-67137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841197" cy="815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↺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2230669" y="6672396"/>
            <a:ext cx="3319539" cy="1617183"/>
            <a:chOff x="0" y="0"/>
            <a:chExt cx="4426052" cy="215624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26077" cy="2156206"/>
            </a:xfrm>
            <a:custGeom>
              <a:avLst/>
              <a:gdLst/>
              <a:ahLst/>
              <a:cxnLst/>
              <a:rect r="r" b="b" t="t" l="l"/>
              <a:pathLst>
                <a:path h="2156206" w="4426077">
                  <a:moveTo>
                    <a:pt x="0" y="0"/>
                  </a:moveTo>
                  <a:lnTo>
                    <a:pt x="4426077" y="0"/>
                  </a:lnTo>
                  <a:lnTo>
                    <a:pt x="4426077" y="2156206"/>
                  </a:lnTo>
                  <a:lnTo>
                    <a:pt x="0" y="21562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505" t="0" r="-12505" b="-1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sp>
        <p:nvSpPr>
          <p:cNvPr name="AutoShape 122" id="122"/>
          <p:cNvSpPr/>
          <p:nvPr/>
        </p:nvSpPr>
        <p:spPr>
          <a:xfrm rot="39060">
            <a:off x="5535663" y="7476220"/>
            <a:ext cx="1256814" cy="9525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edi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Thêm / Chỉnh sửa sự kiện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039179" y="1864481"/>
            <a:ext cx="3207487" cy="6918636"/>
            <a:chOff x="0" y="0"/>
            <a:chExt cx="4276649" cy="92248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76725" cy="9224899"/>
            </a:xfrm>
            <a:custGeom>
              <a:avLst/>
              <a:gdLst/>
              <a:ahLst/>
              <a:cxnLst/>
              <a:rect r="r" b="b" t="t" l="l"/>
              <a:pathLst>
                <a:path h="9224899" w="4276725">
                  <a:moveTo>
                    <a:pt x="0" y="437642"/>
                  </a:moveTo>
                  <a:cubicBezTo>
                    <a:pt x="0" y="195961"/>
                    <a:pt x="195961" y="0"/>
                    <a:pt x="437642" y="0"/>
                  </a:cubicBezTo>
                  <a:lnTo>
                    <a:pt x="3839083" y="0"/>
                  </a:lnTo>
                  <a:cubicBezTo>
                    <a:pt x="4080764" y="0"/>
                    <a:pt x="4276725" y="195961"/>
                    <a:pt x="4276725" y="437642"/>
                  </a:cubicBezTo>
                  <a:lnTo>
                    <a:pt x="4276725" y="8787257"/>
                  </a:lnTo>
                  <a:cubicBezTo>
                    <a:pt x="4276725" y="9028938"/>
                    <a:pt x="4080764" y="9224899"/>
                    <a:pt x="3839083" y="9224899"/>
                  </a:cubicBezTo>
                  <a:lnTo>
                    <a:pt x="437642" y="9224899"/>
                  </a:lnTo>
                  <a:cubicBezTo>
                    <a:pt x="195961" y="9224899"/>
                    <a:pt x="0" y="9028938"/>
                    <a:pt x="0" y="8787257"/>
                  </a:cubicBezTo>
                  <a:close/>
                </a:path>
              </a:pathLst>
            </a:custGeom>
            <a:solidFill>
              <a:srgbClr val="17142E"/>
            </a:solidFill>
            <a:ln w="20588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604772" y="8861955"/>
            <a:ext cx="4076100" cy="385201"/>
            <a:chOff x="0" y="0"/>
            <a:chExt cx="5434800" cy="5136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34800" cy="513600"/>
            </a:xfrm>
            <a:custGeom>
              <a:avLst/>
              <a:gdLst/>
              <a:ahLst/>
              <a:cxnLst/>
              <a:rect r="r" b="b" t="t" l="l"/>
              <a:pathLst>
                <a:path h="513600" w="5434800">
                  <a:moveTo>
                    <a:pt x="0" y="0"/>
                  </a:moveTo>
                  <a:lnTo>
                    <a:pt x="5434800" y="0"/>
                  </a:lnTo>
                  <a:lnTo>
                    <a:pt x="5434800" y="513600"/>
                  </a:lnTo>
                  <a:lnTo>
                    <a:pt x="0" y="51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186" r="0" b="-15618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434800" cy="551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40"/>
                </a:lnSpc>
              </a:pPr>
              <a:r>
                <a:rPr lang="en-US" b="true" sz="1783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AddEventScreen.kt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4772" y="9217714"/>
            <a:ext cx="4076100" cy="326250"/>
            <a:chOff x="0" y="0"/>
            <a:chExt cx="5434800" cy="43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34800" cy="435000"/>
            </a:xfrm>
            <a:custGeom>
              <a:avLst/>
              <a:gdLst/>
              <a:ahLst/>
              <a:cxnLst/>
              <a:rect r="r" b="b" t="t" l="l"/>
              <a:pathLst>
                <a:path h="435000" w="5434800">
                  <a:moveTo>
                    <a:pt x="0" y="0"/>
                  </a:moveTo>
                  <a:lnTo>
                    <a:pt x="5434800" y="0"/>
                  </a:lnTo>
                  <a:lnTo>
                    <a:pt x="5434800" y="435000"/>
                  </a:lnTo>
                  <a:lnTo>
                    <a:pt x="0" y="4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41" r="0" b="-19344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434800" cy="46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54"/>
                </a:lnSpc>
              </a:pPr>
              <a:r>
                <a:rPr lang="en-US" sz="1378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Dùng chung cho Thêm &amp; Sửa sự kiện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27865" y="2400243"/>
            <a:ext cx="342900" cy="342900"/>
            <a:chOff x="0" y="0"/>
            <a:chExt cx="457200" cy="457200"/>
          </a:xfrm>
        </p:grpSpPr>
        <p:sp>
          <p:nvSpPr>
            <p:cNvPr name="Freeform 27" id="27" descr="/home/claude/icons/even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34239" y="2215077"/>
            <a:ext cx="11950646" cy="438750"/>
            <a:chOff x="0" y="0"/>
            <a:chExt cx="15934195" cy="585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Tiêu đề sự kiện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27865" y="3470091"/>
            <a:ext cx="342900" cy="342900"/>
            <a:chOff x="0" y="0"/>
            <a:chExt cx="457200" cy="457200"/>
          </a:xfrm>
        </p:grpSpPr>
        <p:sp>
          <p:nvSpPr>
            <p:cNvPr name="Freeform 32" id="32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27865" y="4539939"/>
            <a:ext cx="342900" cy="342900"/>
            <a:chOff x="0" y="0"/>
            <a:chExt cx="457200" cy="457200"/>
          </a:xfrm>
        </p:grpSpPr>
        <p:sp>
          <p:nvSpPr>
            <p:cNvPr name="Freeform 34" id="34" descr="/home/claude/icons/tim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127865" y="5609787"/>
            <a:ext cx="342900" cy="342900"/>
            <a:chOff x="0" y="0"/>
            <a:chExt cx="457200" cy="457200"/>
          </a:xfrm>
        </p:grpSpPr>
        <p:sp>
          <p:nvSpPr>
            <p:cNvPr name="Freeform 36" id="36" descr="/home/claude/icons/categor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27865" y="6679635"/>
            <a:ext cx="342900" cy="342900"/>
            <a:chOff x="0" y="0"/>
            <a:chExt cx="457200" cy="457200"/>
          </a:xfrm>
        </p:grpSpPr>
        <p:sp>
          <p:nvSpPr>
            <p:cNvPr name="Freeform 38" id="38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127865" y="7749483"/>
            <a:ext cx="342900" cy="342900"/>
            <a:chOff x="0" y="0"/>
            <a:chExt cx="457200" cy="457200"/>
          </a:xfrm>
        </p:grpSpPr>
        <p:sp>
          <p:nvSpPr>
            <p:cNvPr name="Freeform 40" id="40" descr="/home/claude/icons/bell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183216" y="2215086"/>
            <a:ext cx="2919222" cy="6245362"/>
            <a:chOff x="0" y="0"/>
            <a:chExt cx="3892296" cy="83271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92296" cy="8327136"/>
            </a:xfrm>
            <a:custGeom>
              <a:avLst/>
              <a:gdLst/>
              <a:ahLst/>
              <a:cxnLst/>
              <a:rect r="r" b="b" t="t" l="l"/>
              <a:pathLst>
                <a:path h="8327136" w="3892296">
                  <a:moveTo>
                    <a:pt x="0" y="0"/>
                  </a:moveTo>
                  <a:lnTo>
                    <a:pt x="3892296" y="0"/>
                  </a:lnTo>
                  <a:lnTo>
                    <a:pt x="3892296" y="8327136"/>
                  </a:lnTo>
                  <a:lnTo>
                    <a:pt x="0" y="8327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2770" r="-4844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214087" y="2077402"/>
            <a:ext cx="857698" cy="239401"/>
            <a:chOff x="0" y="0"/>
            <a:chExt cx="1143597" cy="3192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43635" cy="319151"/>
            </a:xfrm>
            <a:custGeom>
              <a:avLst/>
              <a:gdLst/>
              <a:ahLst/>
              <a:cxnLst/>
              <a:rect r="r" b="b" t="t" l="l"/>
              <a:pathLst>
                <a:path h="319151" w="114363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983996" y="0"/>
                  </a:lnTo>
                  <a:cubicBezTo>
                    <a:pt x="1072134" y="0"/>
                    <a:pt x="1143635" y="71501"/>
                    <a:pt x="1143635" y="159639"/>
                  </a:cubicBezTo>
                  <a:cubicBezTo>
                    <a:pt x="1143635" y="247777"/>
                    <a:pt x="1072134" y="319151"/>
                    <a:pt x="983996" y="319151"/>
                  </a:cubicBezTo>
                  <a:lnTo>
                    <a:pt x="159639" y="319151"/>
                  </a:lnTo>
                  <a:cubicBezTo>
                    <a:pt x="71501" y="319151"/>
                    <a:pt x="0" y="247777"/>
                    <a:pt x="0" y="159639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83847" y="2256225"/>
            <a:ext cx="630898" cy="630898"/>
            <a:chOff x="0" y="0"/>
            <a:chExt cx="841197" cy="8411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27865" y="2400243"/>
            <a:ext cx="342900" cy="342900"/>
            <a:chOff x="0" y="0"/>
            <a:chExt cx="457200" cy="457200"/>
          </a:xfrm>
        </p:grpSpPr>
        <p:sp>
          <p:nvSpPr>
            <p:cNvPr name="Freeform 48" id="48" descr="/home/claude/icons/even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34239" y="2640273"/>
            <a:ext cx="11950646" cy="575996"/>
            <a:chOff x="0" y="0"/>
            <a:chExt cx="15934195" cy="76799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Bắt buộc nhập, hiển thị cảnh báo nếu bỏ trống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983847" y="3326073"/>
            <a:ext cx="630898" cy="630898"/>
            <a:chOff x="0" y="0"/>
            <a:chExt cx="841197" cy="8411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127865" y="3470091"/>
            <a:ext cx="342900" cy="342900"/>
            <a:chOff x="0" y="0"/>
            <a:chExt cx="457200" cy="457200"/>
          </a:xfrm>
        </p:grpSpPr>
        <p:sp>
          <p:nvSpPr>
            <p:cNvPr name="Freeform 55" id="55" descr="/home/claude/icons/dateRan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834239" y="3284925"/>
            <a:ext cx="11950646" cy="438750"/>
            <a:chOff x="0" y="0"/>
            <a:chExt cx="15934195" cy="585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Ngày diễn ra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834239" y="3710121"/>
            <a:ext cx="11950646" cy="575996"/>
            <a:chOff x="0" y="0"/>
            <a:chExt cx="15934195" cy="7679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Date picker + phím tắt “Hôm nay / Ngày mai / Ngày kia”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983847" y="5383597"/>
            <a:ext cx="630898" cy="630898"/>
            <a:chOff x="0" y="0"/>
            <a:chExt cx="841197" cy="8411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127865" y="5527615"/>
            <a:ext cx="342900" cy="342900"/>
            <a:chOff x="0" y="0"/>
            <a:chExt cx="457200" cy="457200"/>
          </a:xfrm>
        </p:grpSpPr>
        <p:sp>
          <p:nvSpPr>
            <p:cNvPr name="Freeform 65" id="65" descr="/home/claude/icons/tim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834239" y="5342449"/>
            <a:ext cx="11950646" cy="438750"/>
            <a:chOff x="0" y="0"/>
            <a:chExt cx="15934195" cy="585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Khung giờ bắt đầu – kết thúc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834239" y="5767645"/>
            <a:ext cx="11950646" cy="575996"/>
            <a:chOff x="0" y="0"/>
            <a:chExt cx="15934195" cy="76799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Tự tính thời lượng, có nút nhanh ±1 giờ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8983847" y="6453445"/>
            <a:ext cx="630898" cy="630898"/>
            <a:chOff x="0" y="0"/>
            <a:chExt cx="841197" cy="84119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127865" y="6597463"/>
            <a:ext cx="342900" cy="342900"/>
            <a:chOff x="0" y="0"/>
            <a:chExt cx="457200" cy="457200"/>
          </a:xfrm>
        </p:grpSpPr>
        <p:sp>
          <p:nvSpPr>
            <p:cNvPr name="Freeform 75" id="75" descr="/home/claude/icons/categor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834239" y="6412297"/>
            <a:ext cx="11950646" cy="438750"/>
            <a:chOff x="0" y="0"/>
            <a:chExt cx="15934195" cy="585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Danh mục sự kiện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834239" y="6837493"/>
            <a:ext cx="11950646" cy="575996"/>
            <a:chOff x="0" y="0"/>
            <a:chExt cx="15934195" cy="76799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Chọn 1 trong các danh mục có màu sắc riêng biệt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8983847" y="7523293"/>
            <a:ext cx="630898" cy="630898"/>
            <a:chOff x="0" y="0"/>
            <a:chExt cx="841197" cy="84119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127865" y="7667311"/>
            <a:ext cx="342900" cy="342900"/>
            <a:chOff x="0" y="0"/>
            <a:chExt cx="457200" cy="457200"/>
          </a:xfrm>
        </p:grpSpPr>
        <p:sp>
          <p:nvSpPr>
            <p:cNvPr name="Freeform 85" id="85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834239" y="7482145"/>
            <a:ext cx="11950646" cy="438750"/>
            <a:chOff x="0" y="0"/>
            <a:chExt cx="15934195" cy="585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Ghi chú chi tiết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834239" y="7907341"/>
            <a:ext cx="11950646" cy="575996"/>
            <a:chOff x="0" y="0"/>
            <a:chExt cx="15934195" cy="76799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Địa điểm, nội dung chuẩn bị (tuỳ chọn)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8983847" y="8593141"/>
            <a:ext cx="630898" cy="630898"/>
            <a:chOff x="0" y="0"/>
            <a:chExt cx="841197" cy="84119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127865" y="8737159"/>
            <a:ext cx="342900" cy="342900"/>
            <a:chOff x="0" y="0"/>
            <a:chExt cx="457200" cy="457200"/>
          </a:xfrm>
        </p:grpSpPr>
        <p:sp>
          <p:nvSpPr>
            <p:cNvPr name="Freeform 95" id="95" descr="/home/claude/icons/bell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9834239" y="8551993"/>
            <a:ext cx="11950646" cy="438750"/>
            <a:chOff x="0" y="0"/>
            <a:chExt cx="15934195" cy="585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Thông báo nhắc nhở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834239" y="8977189"/>
            <a:ext cx="11950646" cy="575996"/>
            <a:chOff x="0" y="0"/>
            <a:chExt cx="15934195" cy="76799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Bật/tắt và chọn thời gian nhắc trước sự kiện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983847" y="4354830"/>
            <a:ext cx="630898" cy="630898"/>
            <a:chOff x="0" y="0"/>
            <a:chExt cx="841197" cy="841197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34239" y="4313682"/>
            <a:ext cx="11950646" cy="438750"/>
            <a:chOff x="0" y="0"/>
            <a:chExt cx="15934195" cy="585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5934199" cy="585000"/>
            </a:xfrm>
            <a:custGeom>
              <a:avLst/>
              <a:gdLst/>
              <a:ahLst/>
              <a:cxnLst/>
              <a:rect r="r" b="b" t="t" l="l"/>
              <a:pathLst>
                <a:path h="585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0732" r="0" b="-48073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5934195" cy="632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Thiết lập chu kỳ 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834239" y="4738878"/>
            <a:ext cx="11950646" cy="575996"/>
            <a:chOff x="0" y="0"/>
            <a:chExt cx="15934195" cy="76799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934199" cy="768000"/>
            </a:xfrm>
            <a:custGeom>
              <a:avLst/>
              <a:gdLst/>
              <a:ahLst/>
              <a:cxnLst/>
              <a:rect r="r" b="b" t="t" l="l"/>
              <a:pathLst>
                <a:path h="768000" w="15934199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69" r="0" b="-35426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104775"/>
              <a:ext cx="15934195" cy="872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5"/>
                </a:lnSpc>
              </a:pPr>
              <a:r>
                <a:rPr lang="en-US" sz="199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Click chọn các thứ trong tuần để tạo chuỗi sự kiện lặp lại. 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051446" y="4382291"/>
            <a:ext cx="630898" cy="575996"/>
            <a:chOff x="0" y="0"/>
            <a:chExt cx="841197" cy="76799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41200" cy="768000"/>
            </a:xfrm>
            <a:custGeom>
              <a:avLst/>
              <a:gdLst/>
              <a:ahLst/>
              <a:cxnLst/>
              <a:rect r="r" b="b" t="t" l="l"/>
              <a:pathLst>
                <a:path h="768000" w="8412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38" t="0" r="-67137" b="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841197" cy="815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b="true" sz="232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↺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2241471" y="2309641"/>
            <a:ext cx="2802941" cy="1654540"/>
            <a:chOff x="0" y="0"/>
            <a:chExt cx="3737254" cy="220605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737229" cy="2205990"/>
            </a:xfrm>
            <a:custGeom>
              <a:avLst/>
              <a:gdLst/>
              <a:ahLst/>
              <a:cxnLst/>
              <a:rect r="r" b="b" t="t" l="l"/>
              <a:pathLst>
                <a:path h="2205990" w="3737229">
                  <a:moveTo>
                    <a:pt x="0" y="0"/>
                  </a:moveTo>
                  <a:lnTo>
                    <a:pt x="3737229" y="0"/>
                  </a:lnTo>
                  <a:lnTo>
                    <a:pt x="3737229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36" t="0" r="-25736" b="-2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04138" y="3047638"/>
            <a:ext cx="342900" cy="342900"/>
            <a:chOff x="0" y="0"/>
            <a:chExt cx="457200" cy="457200"/>
          </a:xfrm>
        </p:grpSpPr>
        <p:sp>
          <p:nvSpPr>
            <p:cNvPr name="Freeform 116" id="116" descr="/home/claude/icons/categor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960120" y="2821448"/>
            <a:ext cx="630898" cy="630898"/>
            <a:chOff x="0" y="0"/>
            <a:chExt cx="841197" cy="841197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104138" y="2965466"/>
            <a:ext cx="342900" cy="342900"/>
            <a:chOff x="0" y="0"/>
            <a:chExt cx="457200" cy="457200"/>
          </a:xfrm>
        </p:grpSpPr>
        <p:sp>
          <p:nvSpPr>
            <p:cNvPr name="Freeform 120" id="120" descr="/home/claude/icons/tim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121" id="121"/>
          <p:cNvSpPr/>
          <p:nvPr/>
        </p:nvSpPr>
        <p:spPr>
          <a:xfrm rot="73080">
            <a:off x="1583798" y="3132134"/>
            <a:ext cx="671894" cy="9525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2" id="122"/>
          <p:cNvGrpSpPr/>
          <p:nvPr/>
        </p:nvGrpSpPr>
        <p:grpSpPr>
          <a:xfrm rot="0">
            <a:off x="5824899" y="4330598"/>
            <a:ext cx="342900" cy="342900"/>
            <a:chOff x="0" y="0"/>
            <a:chExt cx="457200" cy="457200"/>
          </a:xfrm>
        </p:grpSpPr>
        <p:sp>
          <p:nvSpPr>
            <p:cNvPr name="Freeform 123" id="123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5680881" y="4104408"/>
            <a:ext cx="630898" cy="630898"/>
            <a:chOff x="0" y="0"/>
            <a:chExt cx="841197" cy="84119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5824899" y="4248426"/>
            <a:ext cx="342900" cy="342900"/>
            <a:chOff x="0" y="0"/>
            <a:chExt cx="457200" cy="457200"/>
          </a:xfrm>
        </p:grpSpPr>
        <p:sp>
          <p:nvSpPr>
            <p:cNvPr name="Freeform 127" id="127" descr="/home/claude/icons/category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2241471" y="3949894"/>
            <a:ext cx="2802941" cy="939937"/>
            <a:chOff x="0" y="0"/>
            <a:chExt cx="3737254" cy="1253249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737229" cy="1253236"/>
            </a:xfrm>
            <a:custGeom>
              <a:avLst/>
              <a:gdLst/>
              <a:ahLst/>
              <a:cxnLst/>
              <a:rect r="r" b="b" t="t" l="l"/>
              <a:pathLst>
                <a:path h="1253236" w="3737229">
                  <a:moveTo>
                    <a:pt x="0" y="0"/>
                  </a:moveTo>
                  <a:lnTo>
                    <a:pt x="3737229" y="0"/>
                  </a:lnTo>
                  <a:lnTo>
                    <a:pt x="3737229" y="1253236"/>
                  </a:lnTo>
                  <a:lnTo>
                    <a:pt x="0" y="12532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05" r="0" b="-8106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sp>
        <p:nvSpPr>
          <p:cNvPr name="AutoShape 130" id="130"/>
          <p:cNvSpPr/>
          <p:nvPr/>
        </p:nvSpPr>
        <p:spPr>
          <a:xfrm rot="74640">
            <a:off x="5030162" y="4415095"/>
            <a:ext cx="657939" cy="9525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1" id="131"/>
          <p:cNvGrpSpPr/>
          <p:nvPr/>
        </p:nvGrpSpPr>
        <p:grpSpPr>
          <a:xfrm rot="0">
            <a:off x="2241356" y="4920320"/>
            <a:ext cx="2802941" cy="1165384"/>
            <a:chOff x="0" y="0"/>
            <a:chExt cx="3737254" cy="155384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737229" cy="1553845"/>
            </a:xfrm>
            <a:custGeom>
              <a:avLst/>
              <a:gdLst/>
              <a:ahLst/>
              <a:cxnLst/>
              <a:rect r="r" b="b" t="t" l="l"/>
              <a:pathLst>
                <a:path h="1553845" w="3737229">
                  <a:moveTo>
                    <a:pt x="0" y="0"/>
                  </a:moveTo>
                  <a:lnTo>
                    <a:pt x="3737229" y="0"/>
                  </a:lnTo>
                  <a:lnTo>
                    <a:pt x="3737229" y="1553845"/>
                  </a:lnTo>
                  <a:lnTo>
                    <a:pt x="0" y="15538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45" t="0" r="-3345" b="0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04119" y="5458873"/>
            <a:ext cx="342900" cy="342900"/>
            <a:chOff x="0" y="0"/>
            <a:chExt cx="457200" cy="457200"/>
          </a:xfrm>
        </p:grpSpPr>
        <p:sp>
          <p:nvSpPr>
            <p:cNvPr name="Freeform 134" id="134" descr="/home/claude/icons/bell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60101" y="5232683"/>
            <a:ext cx="630898" cy="630898"/>
            <a:chOff x="0" y="0"/>
            <a:chExt cx="841197" cy="841197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104119" y="5376701"/>
            <a:ext cx="342900" cy="342900"/>
            <a:chOff x="0" y="0"/>
            <a:chExt cx="457200" cy="457200"/>
          </a:xfrm>
        </p:grpSpPr>
        <p:sp>
          <p:nvSpPr>
            <p:cNvPr name="Freeform 138" id="138" descr="/home/claude/icons/checklist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AutoShape 139" id="139"/>
          <p:cNvSpPr/>
          <p:nvPr/>
        </p:nvSpPr>
        <p:spPr>
          <a:xfrm rot="10497360">
            <a:off x="1582550" y="5520871"/>
            <a:ext cx="674351" cy="9525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0" id="140"/>
          <p:cNvGrpSpPr/>
          <p:nvPr/>
        </p:nvGrpSpPr>
        <p:grpSpPr>
          <a:xfrm rot="0">
            <a:off x="2306641" y="6116193"/>
            <a:ext cx="2737685" cy="1654540"/>
            <a:chOff x="0" y="0"/>
            <a:chExt cx="3650247" cy="2206054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650234" cy="2205990"/>
            </a:xfrm>
            <a:custGeom>
              <a:avLst/>
              <a:gdLst/>
              <a:ahLst/>
              <a:cxnLst/>
              <a:rect r="r" b="b" t="t" l="l"/>
              <a:pathLst>
                <a:path h="2205990" w="3650234">
                  <a:moveTo>
                    <a:pt x="0" y="0"/>
                  </a:moveTo>
                  <a:lnTo>
                    <a:pt x="3650234" y="0"/>
                  </a:lnTo>
                  <a:lnTo>
                    <a:pt x="3650234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541" t="0" r="-27541" b="-2"/>
              </a:stretch>
            </a:blipFill>
            <a:ln w="14288" cap="sq">
              <a:solidFill>
                <a:srgbClr val="ED7D31"/>
              </a:solidFill>
              <a:prstDash val="solid"/>
              <a:miter/>
            </a:ln>
          </p:spPr>
        </p:sp>
      </p:grpSp>
      <p:grpSp>
        <p:nvGrpSpPr>
          <p:cNvPr name="Group 142" id="142"/>
          <p:cNvGrpSpPr/>
          <p:nvPr/>
        </p:nvGrpSpPr>
        <p:grpSpPr>
          <a:xfrm rot="0">
            <a:off x="5680920" y="6810051"/>
            <a:ext cx="630898" cy="630898"/>
            <a:chOff x="0" y="0"/>
            <a:chExt cx="841197" cy="841197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5824938" y="6954069"/>
            <a:ext cx="342900" cy="342900"/>
            <a:chOff x="0" y="0"/>
            <a:chExt cx="457200" cy="457200"/>
          </a:xfrm>
        </p:grpSpPr>
        <p:sp>
          <p:nvSpPr>
            <p:cNvPr name="Freeform 145" id="145" descr="/home/claude/icons/bell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AutoShape 146" id="146"/>
          <p:cNvSpPr/>
          <p:nvPr/>
        </p:nvSpPr>
        <p:spPr>
          <a:xfrm rot="74640">
            <a:off x="5102104" y="7120719"/>
            <a:ext cx="657939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wipe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smartTo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Trợ lý AI (Gemini)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116455"/>
            <a:ext cx="2967904" cy="6401848"/>
            <a:chOff x="0" y="0"/>
            <a:chExt cx="3957206" cy="85357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904600" y="4792285"/>
            <a:ext cx="648491" cy="648491"/>
            <a:chOff x="0" y="0"/>
            <a:chExt cx="864654" cy="864654"/>
          </a:xfrm>
        </p:grpSpPr>
        <p:sp>
          <p:nvSpPr>
            <p:cNvPr name="Freeform 21" id="21" descr="/home/claude/icons/image.png"/>
            <p:cNvSpPr/>
            <p:nvPr/>
          </p:nvSpPr>
          <p:spPr>
            <a:xfrm flipH="false" flipV="false" rot="0">
              <a:off x="0" y="0"/>
              <a:ext cx="864616" cy="864616"/>
            </a:xfrm>
            <a:custGeom>
              <a:avLst/>
              <a:gdLst/>
              <a:ahLst/>
              <a:cxnLst/>
              <a:rect r="r" b="b" t="t" l="l"/>
              <a:pathLst>
                <a:path h="864616" w="864616">
                  <a:moveTo>
                    <a:pt x="0" y="0"/>
                  </a:moveTo>
                  <a:lnTo>
                    <a:pt x="864616" y="0"/>
                  </a:lnTo>
                  <a:lnTo>
                    <a:pt x="864616" y="864616"/>
                  </a:lnTo>
                  <a:lnTo>
                    <a:pt x="0" y="864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4999"/>
              </a:blip>
              <a:stretch>
                <a:fillRect l="0" t="0" r="-4" b="-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42900" y="8591264"/>
            <a:ext cx="3771900" cy="356616"/>
            <a:chOff x="0" y="0"/>
            <a:chExt cx="5029200" cy="4754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0" cy="475488"/>
            </a:xfrm>
            <a:custGeom>
              <a:avLst/>
              <a:gdLst/>
              <a:ahLst/>
              <a:cxnLst/>
              <a:rect r="r" b="b" t="t" l="l"/>
              <a:pathLst>
                <a:path h="47548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91" r="0" b="-15609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02920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AIScreen.kt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2900" y="8920448"/>
            <a:ext cx="3771900" cy="301752"/>
            <a:chOff x="0" y="0"/>
            <a:chExt cx="5029200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9200" cy="402336"/>
            </a:xfrm>
            <a:custGeom>
              <a:avLst/>
              <a:gdLst/>
              <a:ahLst/>
              <a:cxnLst/>
              <a:rect r="r" b="b" t="t" l="l"/>
              <a:pathLst>
                <a:path h="402336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0292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Giao diện chat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732020" y="2057400"/>
            <a:ext cx="12801143" cy="905256"/>
            <a:chOff x="0" y="0"/>
            <a:chExt cx="17068190" cy="12070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068191" cy="1207008"/>
            </a:xfrm>
            <a:custGeom>
              <a:avLst/>
              <a:gdLst/>
              <a:ahLst/>
              <a:cxnLst/>
              <a:rect r="r" b="b" t="t" l="l"/>
              <a:pathLst>
                <a:path h="1207008" w="17068191">
                  <a:moveTo>
                    <a:pt x="0" y="0"/>
                  </a:moveTo>
                  <a:lnTo>
                    <a:pt x="17068191" y="0"/>
                  </a:lnTo>
                  <a:lnTo>
                    <a:pt x="17068191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536" r="0" b="-2255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0"/>
              <a:ext cx="17068190" cy="1302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sz="1875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Trò chuyện dạng chat, hiểu ngữ cảnh lịch trình hôm nay của người dùng để tìm sự kiện, đưa ra tư vấn phù hợp.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732020" y="3127248"/>
            <a:ext cx="12801143" cy="411480"/>
            <a:chOff x="0" y="0"/>
            <a:chExt cx="17068190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68191" cy="548640"/>
            </a:xfrm>
            <a:custGeom>
              <a:avLst/>
              <a:gdLst/>
              <a:ahLst/>
              <a:cxnLst/>
              <a:rect r="r" b="b" t="t" l="l"/>
              <a:pathLst>
                <a:path h="548640" w="17068191">
                  <a:moveTo>
                    <a:pt x="0" y="0"/>
                  </a:moveTo>
                  <a:lnTo>
                    <a:pt x="17068191" y="0"/>
                  </a:lnTo>
                  <a:lnTo>
                    <a:pt x="1706819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179" r="0" b="-55617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06819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gợi ý nhanh (quick prompts)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722495" y="3638931"/>
            <a:ext cx="12820193" cy="512826"/>
            <a:chOff x="0" y="0"/>
            <a:chExt cx="17093590" cy="6837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093566" cy="683768"/>
            </a:xfrm>
            <a:custGeom>
              <a:avLst/>
              <a:gdLst/>
              <a:ahLst/>
              <a:cxnLst/>
              <a:rect r="r" b="b" t="t" l="l"/>
              <a:pathLst>
                <a:path h="683768" w="17093566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937760" y="3648456"/>
            <a:ext cx="12389663" cy="493776"/>
            <a:chOff x="0" y="0"/>
            <a:chExt cx="16519550" cy="6583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6519550" cy="658368"/>
            </a:xfrm>
            <a:custGeom>
              <a:avLst/>
              <a:gdLst/>
              <a:ahLst/>
              <a:cxnLst/>
              <a:rect r="r" b="b" t="t" l="l"/>
              <a:pathLst>
                <a:path h="658368" w="16519550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912" r="0" b="-43891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65195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🗓️ Lập thời gian biểu hôm nay &amp; điền vào lịch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722495" y="4242435"/>
            <a:ext cx="12820193" cy="512826"/>
            <a:chOff x="0" y="0"/>
            <a:chExt cx="17093590" cy="6837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93566" cy="683768"/>
            </a:xfrm>
            <a:custGeom>
              <a:avLst/>
              <a:gdLst/>
              <a:ahLst/>
              <a:cxnLst/>
              <a:rect r="r" b="b" t="t" l="l"/>
              <a:pathLst>
                <a:path h="683768" w="17093566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937760" y="4251960"/>
            <a:ext cx="12389663" cy="493776"/>
            <a:chOff x="0" y="0"/>
            <a:chExt cx="1651955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519550" cy="658368"/>
            </a:xfrm>
            <a:custGeom>
              <a:avLst/>
              <a:gdLst/>
              <a:ahLst/>
              <a:cxnLst/>
              <a:rect r="r" b="b" t="t" l="l"/>
              <a:pathLst>
                <a:path h="658368" w="16519550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912" r="0" b="-4389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65195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⏱️ Gợi ý phân bổ thời gian học tập &amp; làm việc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22495" y="4845939"/>
            <a:ext cx="12820193" cy="512826"/>
            <a:chOff x="0" y="0"/>
            <a:chExt cx="17093590" cy="68376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93566" cy="683768"/>
            </a:xfrm>
            <a:custGeom>
              <a:avLst/>
              <a:gdLst/>
              <a:ahLst/>
              <a:cxnLst/>
              <a:rect r="r" b="b" t="t" l="l"/>
              <a:pathLst>
                <a:path h="683768" w="17093566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4937760" y="4855464"/>
            <a:ext cx="12389663" cy="493776"/>
            <a:chOff x="0" y="0"/>
            <a:chExt cx="16519550" cy="6583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519550" cy="658368"/>
            </a:xfrm>
            <a:custGeom>
              <a:avLst/>
              <a:gdLst/>
              <a:ahLst/>
              <a:cxnLst/>
              <a:rect r="r" b="b" t="t" l="l"/>
              <a:pathLst>
                <a:path h="658368" w="16519550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912" r="0" b="-43891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5195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Mẹo sắp xếp thứ tự ưu tiên công việc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22495" y="5449443"/>
            <a:ext cx="12820193" cy="512826"/>
            <a:chOff x="0" y="0"/>
            <a:chExt cx="17093590" cy="6837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093566" cy="683768"/>
            </a:xfrm>
            <a:custGeom>
              <a:avLst/>
              <a:gdLst/>
              <a:ahLst/>
              <a:cxnLst/>
              <a:rect r="r" b="b" t="t" l="l"/>
              <a:pathLst>
                <a:path h="683768" w="17093566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4937760" y="5458968"/>
            <a:ext cx="12389663" cy="493776"/>
            <a:chOff x="0" y="0"/>
            <a:chExt cx="16519550" cy="6583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519550" cy="658368"/>
            </a:xfrm>
            <a:custGeom>
              <a:avLst/>
              <a:gdLst/>
              <a:ahLst/>
              <a:cxnLst/>
              <a:rect r="r" b="b" t="t" l="l"/>
              <a:pathLst>
                <a:path h="658368" w="16519550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912" r="0" b="-43891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65195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Lập kế hoạch ngày mới hiệu quả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722495" y="6052947"/>
            <a:ext cx="12820193" cy="512826"/>
            <a:chOff x="0" y="0"/>
            <a:chExt cx="17093590" cy="6837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093566" cy="683768"/>
            </a:xfrm>
            <a:custGeom>
              <a:avLst/>
              <a:gdLst/>
              <a:ahLst/>
              <a:cxnLst/>
              <a:rect r="r" b="b" t="t" l="l"/>
              <a:pathLst>
                <a:path h="683768" w="17093566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4937760" y="6062472"/>
            <a:ext cx="12389663" cy="493776"/>
            <a:chOff x="0" y="0"/>
            <a:chExt cx="1651955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519550" cy="658368"/>
            </a:xfrm>
            <a:custGeom>
              <a:avLst/>
              <a:gdLst/>
              <a:ahLst/>
              <a:cxnLst/>
              <a:rect r="r" b="b" t="t" l="l"/>
              <a:pathLst>
                <a:path h="658368" w="16519550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912" r="0" b="-43891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6519550" cy="6964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🏃 Đề xuất thời gian tập thể dục mỗi ngày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4823441" y="6790544"/>
            <a:ext cx="12618291" cy="1365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09" indent="-149304" lvl="1">
              <a:lnSpc>
                <a:spcPts val="2519"/>
              </a:lnSpc>
              <a:buFont typeface="Arial"/>
              <a:buChar char="•"/>
            </a:pPr>
            <a:r>
              <a:rPr lang="en-US" sz="16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nhập API Key Gemini riêng của người dùng</a:t>
            </a:r>
          </a:p>
          <a:p>
            <a:pPr algn="l" marL="298609" indent="-149304" lvl="1">
              <a:lnSpc>
                <a:spcPts val="2519"/>
              </a:lnSpc>
              <a:buFont typeface="Arial"/>
              <a:buChar char="•"/>
            </a:pPr>
            <a:r>
              <a:rPr lang="en-US" sz="16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Prompt tự động hóa (AI Study Planner): Hệ thống tự động tổng hợp mục tiêu, deadline và thời gian rảnh của người dùng thành Prompt tối ưu để gửi cho AI.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77834" y="2337073"/>
            <a:ext cx="2713349" cy="6001912"/>
            <a:chOff x="0" y="0"/>
            <a:chExt cx="3617798" cy="800254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17849" cy="8002524"/>
            </a:xfrm>
            <a:custGeom>
              <a:avLst/>
              <a:gdLst/>
              <a:ahLst/>
              <a:cxnLst/>
              <a:rect r="r" b="b" t="t" l="l"/>
              <a:pathLst>
                <a:path h="8002524" w="3617849">
                  <a:moveTo>
                    <a:pt x="0" y="0"/>
                  </a:moveTo>
                  <a:lnTo>
                    <a:pt x="3617849" y="0"/>
                  </a:lnTo>
                  <a:lnTo>
                    <a:pt x="3617849" y="8002524"/>
                  </a:lnTo>
                  <a:lnTo>
                    <a:pt x="0" y="800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498" b="-292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844812" y="2193855"/>
            <a:ext cx="768153" cy="248402"/>
            <a:chOff x="0" y="0"/>
            <a:chExt cx="1024204" cy="33120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255" cy="331216"/>
            </a:xfrm>
            <a:custGeom>
              <a:avLst/>
              <a:gdLst/>
              <a:ahLst/>
              <a:cxnLst/>
              <a:rect r="r" b="b" t="t" l="l"/>
              <a:pathLst>
                <a:path h="331216" w="1024255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7294" y="5487543"/>
            <a:ext cx="2322071" cy="3307128"/>
            <a:chOff x="0" y="0"/>
            <a:chExt cx="3096095" cy="4409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6133" cy="4409567"/>
            </a:xfrm>
            <a:custGeom>
              <a:avLst/>
              <a:gdLst/>
              <a:ahLst/>
              <a:cxnLst/>
              <a:rect r="r" b="b" t="t" l="l"/>
              <a:pathLst>
                <a:path h="4409567" w="3096133">
                  <a:moveTo>
                    <a:pt x="0" y="316865"/>
                  </a:moveTo>
                  <a:cubicBezTo>
                    <a:pt x="0" y="141859"/>
                    <a:pt x="141859" y="0"/>
                    <a:pt x="316865" y="0"/>
                  </a:cubicBezTo>
                  <a:lnTo>
                    <a:pt x="2779268" y="0"/>
                  </a:lnTo>
                  <a:cubicBezTo>
                    <a:pt x="2954274" y="0"/>
                    <a:pt x="3096133" y="141859"/>
                    <a:pt x="3096133" y="316865"/>
                  </a:cubicBezTo>
                  <a:lnTo>
                    <a:pt x="3096133" y="4092702"/>
                  </a:lnTo>
                  <a:cubicBezTo>
                    <a:pt x="3096133" y="4267708"/>
                    <a:pt x="2954274" y="4409567"/>
                    <a:pt x="2779268" y="4409567"/>
                  </a:cubicBezTo>
                  <a:lnTo>
                    <a:pt x="316865" y="4409567"/>
                  </a:lnTo>
                  <a:cubicBezTo>
                    <a:pt x="141859" y="4409440"/>
                    <a:pt x="0" y="4267708"/>
                    <a:pt x="0" y="4092702"/>
                  </a:cubicBezTo>
                  <a:close/>
                </a:path>
              </a:pathLst>
            </a:custGeom>
            <a:solidFill>
              <a:srgbClr val="17142E"/>
            </a:solidFill>
            <a:ln w="14925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85800"/>
            <a:ext cx="850497" cy="850497"/>
            <a:chOff x="0" y="0"/>
            <a:chExt cx="1133996" cy="1133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7" id="7" descr="/home/claude/icons/smartTo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Trợ lý AI (Gemini)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4865" y="2116465"/>
            <a:ext cx="2967904" cy="6699752"/>
            <a:chOff x="0" y="0"/>
            <a:chExt cx="3957206" cy="89330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7320" cy="8933053"/>
            </a:xfrm>
            <a:custGeom>
              <a:avLst/>
              <a:gdLst/>
              <a:ahLst/>
              <a:cxnLst/>
              <a:rect r="r" b="b" t="t" l="l"/>
              <a:pathLst>
                <a:path h="8933053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58734" y="9030652"/>
            <a:ext cx="3771900" cy="356397"/>
            <a:chOff x="0" y="0"/>
            <a:chExt cx="5029200" cy="4751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0" cy="475200"/>
            </a:xfrm>
            <a:custGeom>
              <a:avLst/>
              <a:gdLst/>
              <a:ahLst/>
              <a:cxnLst/>
              <a:rect r="r" b="b" t="t" l="l"/>
              <a:pathLst>
                <a:path h="475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7" r="0" b="-15621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029200" cy="50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AIStudyPlannerScreen.kt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58734" y="9359836"/>
            <a:ext cx="3771900" cy="301952"/>
            <a:chOff x="0" y="0"/>
            <a:chExt cx="5029200" cy="4026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9200" cy="402600"/>
            </a:xfrm>
            <a:custGeom>
              <a:avLst/>
              <a:gdLst/>
              <a:ahLst/>
              <a:cxnLst/>
              <a:rect r="r" b="b" t="t" l="l"/>
              <a:pathLst>
                <a:path h="402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02" r="0" b="-19340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029200" cy="43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Giao diện tuỳ chỉnh mục tiêu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94242" y="3009471"/>
            <a:ext cx="8457305" cy="1058399"/>
            <a:chOff x="0" y="0"/>
            <a:chExt cx="11276406" cy="141119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76400" cy="1411200"/>
            </a:xfrm>
            <a:custGeom>
              <a:avLst/>
              <a:gdLst/>
              <a:ahLst/>
              <a:cxnLst/>
              <a:rect r="r" b="b" t="t" l="l"/>
              <a:pathLst>
                <a:path h="1411200" w="11276400">
                  <a:moveTo>
                    <a:pt x="0" y="0"/>
                  </a:moveTo>
                  <a:lnTo>
                    <a:pt x="11276400" y="0"/>
                  </a:lnTo>
                  <a:lnTo>
                    <a:pt x="11276400" y="1411200"/>
                  </a:lnTo>
                  <a:lnTo>
                    <a:pt x="0" y="141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98" r="0" b="-10569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80975"/>
              <a:ext cx="11276406" cy="159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53"/>
                </a:lnSpc>
              </a:pPr>
              <a:r>
                <a:rPr lang="en-US" b="true" sz="3420">
                  <a:solidFill>
                    <a:srgbClr val="3F3D5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Planner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80402" y="4586507"/>
            <a:ext cx="7526474" cy="744522"/>
            <a:chOff x="0" y="0"/>
            <a:chExt cx="10035299" cy="9926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914752" y="4600346"/>
            <a:ext cx="7258050" cy="716852"/>
            <a:chOff x="0" y="0"/>
            <a:chExt cx="9677400" cy="95580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Thiết lập mục tiêu tổng quan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80402" y="5463216"/>
            <a:ext cx="7526474" cy="744522"/>
            <a:chOff x="0" y="0"/>
            <a:chExt cx="10035299" cy="9926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8914752" y="5477056"/>
            <a:ext cx="7258050" cy="716852"/>
            <a:chOff x="0" y="0"/>
            <a:chExt cx="9677400" cy="95580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 2. Quản lý môn học &amp; Mức độ ưu tiên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780402" y="6339926"/>
            <a:ext cx="7526474" cy="744522"/>
            <a:chOff x="0" y="0"/>
            <a:chExt cx="10035299" cy="9926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914752" y="6353756"/>
            <a:ext cx="7258050" cy="716852"/>
            <a:chOff x="0" y="0"/>
            <a:chExt cx="9677400" cy="95580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⏰ 3. Tùy chỉnh khung thời gian rảnh 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80402" y="7216635"/>
            <a:ext cx="7526474" cy="744522"/>
            <a:chOff x="0" y="0"/>
            <a:chExt cx="10035299" cy="99269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914752" y="7230466"/>
            <a:ext cx="7258050" cy="716852"/>
            <a:chOff x="0" y="0"/>
            <a:chExt cx="9677400" cy="9558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✨ 4. Tạo kế hoạch chỉ với 1 chạm (One-tap Generation)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90511" y="2365534"/>
            <a:ext cx="2676563" cy="6225711"/>
            <a:chOff x="0" y="0"/>
            <a:chExt cx="3568751" cy="830094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68700" cy="8300974"/>
            </a:xfrm>
            <a:custGeom>
              <a:avLst/>
              <a:gdLst/>
              <a:ahLst/>
              <a:cxnLst/>
              <a:rect r="r" b="b" t="t" l="l"/>
              <a:pathLst>
                <a:path h="8300974" w="3568700">
                  <a:moveTo>
                    <a:pt x="0" y="0"/>
                  </a:moveTo>
                  <a:lnTo>
                    <a:pt x="3568700" y="0"/>
                  </a:lnTo>
                  <a:lnTo>
                    <a:pt x="3568700" y="8300974"/>
                  </a:lnTo>
                  <a:lnTo>
                    <a:pt x="0" y="8300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57791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844812" y="2193855"/>
            <a:ext cx="768153" cy="248402"/>
            <a:chOff x="0" y="0"/>
            <a:chExt cx="1024204" cy="33120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255" cy="331216"/>
            </a:xfrm>
            <a:custGeom>
              <a:avLst/>
              <a:gdLst/>
              <a:ahLst/>
              <a:cxnLst/>
              <a:rect r="r" b="b" t="t" l="l"/>
              <a:pathLst>
                <a:path h="331216" w="1024255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107304" y="2118522"/>
            <a:ext cx="2322071" cy="3307128"/>
            <a:chOff x="0" y="0"/>
            <a:chExt cx="3096095" cy="44095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096133" cy="4409567"/>
            </a:xfrm>
            <a:custGeom>
              <a:avLst/>
              <a:gdLst/>
              <a:ahLst/>
              <a:cxnLst/>
              <a:rect r="r" b="b" t="t" l="l"/>
              <a:pathLst>
                <a:path h="4409567" w="3096133">
                  <a:moveTo>
                    <a:pt x="0" y="316865"/>
                  </a:moveTo>
                  <a:cubicBezTo>
                    <a:pt x="0" y="141859"/>
                    <a:pt x="141859" y="0"/>
                    <a:pt x="316865" y="0"/>
                  </a:cubicBezTo>
                  <a:lnTo>
                    <a:pt x="2779268" y="0"/>
                  </a:lnTo>
                  <a:cubicBezTo>
                    <a:pt x="2954274" y="0"/>
                    <a:pt x="3096133" y="141859"/>
                    <a:pt x="3096133" y="316865"/>
                  </a:cubicBezTo>
                  <a:lnTo>
                    <a:pt x="3096133" y="4092702"/>
                  </a:lnTo>
                  <a:cubicBezTo>
                    <a:pt x="3096133" y="4267708"/>
                    <a:pt x="2954274" y="4409567"/>
                    <a:pt x="2779268" y="4409567"/>
                  </a:cubicBezTo>
                  <a:lnTo>
                    <a:pt x="316865" y="4409567"/>
                  </a:lnTo>
                  <a:cubicBezTo>
                    <a:pt x="141859" y="4409440"/>
                    <a:pt x="0" y="4267708"/>
                    <a:pt x="0" y="4092702"/>
                  </a:cubicBezTo>
                  <a:close/>
                </a:path>
              </a:pathLst>
            </a:custGeom>
            <a:solidFill>
              <a:srgbClr val="17142E"/>
            </a:solidFill>
            <a:ln w="14925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4197039" y="2348617"/>
            <a:ext cx="2142877" cy="2902906"/>
            <a:chOff x="0" y="0"/>
            <a:chExt cx="2857170" cy="387054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857119" cy="3870579"/>
            </a:xfrm>
            <a:custGeom>
              <a:avLst/>
              <a:gdLst/>
              <a:ahLst/>
              <a:cxnLst/>
              <a:rect r="r" b="b" t="t" l="l"/>
              <a:pathLst>
                <a:path h="3870579" w="2857119">
                  <a:moveTo>
                    <a:pt x="0" y="0"/>
                  </a:moveTo>
                  <a:lnTo>
                    <a:pt x="2857119" y="0"/>
                  </a:lnTo>
                  <a:lnTo>
                    <a:pt x="2857119" y="3870579"/>
                  </a:lnTo>
                  <a:lnTo>
                    <a:pt x="0" y="3870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82030" r="-4098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930397" y="2208724"/>
            <a:ext cx="675904" cy="218704"/>
            <a:chOff x="0" y="0"/>
            <a:chExt cx="901205" cy="2916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01192" cy="291592"/>
            </a:xfrm>
            <a:custGeom>
              <a:avLst/>
              <a:gdLst/>
              <a:ahLst/>
              <a:cxnLst/>
              <a:rect r="r" b="b" t="t" l="l"/>
              <a:pathLst>
                <a:path h="291592" w="901192">
                  <a:moveTo>
                    <a:pt x="0" y="145796"/>
                  </a:moveTo>
                  <a:cubicBezTo>
                    <a:pt x="0" y="65278"/>
                    <a:pt x="65278" y="0"/>
                    <a:pt x="145796" y="0"/>
                  </a:cubicBezTo>
                  <a:lnTo>
                    <a:pt x="755396" y="0"/>
                  </a:lnTo>
                  <a:cubicBezTo>
                    <a:pt x="835914" y="0"/>
                    <a:pt x="901192" y="65278"/>
                    <a:pt x="901192" y="145796"/>
                  </a:cubicBezTo>
                  <a:cubicBezTo>
                    <a:pt x="901192" y="226314"/>
                    <a:pt x="835914" y="291592"/>
                    <a:pt x="755396" y="291592"/>
                  </a:cubicBezTo>
                  <a:lnTo>
                    <a:pt x="145796" y="291592"/>
                  </a:lnTo>
                  <a:cubicBezTo>
                    <a:pt x="65278" y="291592"/>
                    <a:pt x="0" y="226314"/>
                    <a:pt x="0" y="145796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241892" y="5666946"/>
            <a:ext cx="2052980" cy="2948168"/>
            <a:chOff x="0" y="0"/>
            <a:chExt cx="2737307" cy="393089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37358" cy="3930904"/>
            </a:xfrm>
            <a:custGeom>
              <a:avLst/>
              <a:gdLst/>
              <a:ahLst/>
              <a:cxnLst/>
              <a:rect r="r" b="b" t="t" l="l"/>
              <a:pathLst>
                <a:path h="3930904" w="2737358">
                  <a:moveTo>
                    <a:pt x="0" y="0"/>
                  </a:moveTo>
                  <a:lnTo>
                    <a:pt x="2737358" y="0"/>
                  </a:lnTo>
                  <a:lnTo>
                    <a:pt x="2737358" y="3930904"/>
                  </a:lnTo>
                  <a:lnTo>
                    <a:pt x="0" y="3930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930388" y="5571601"/>
            <a:ext cx="675904" cy="171002"/>
            <a:chOff x="0" y="0"/>
            <a:chExt cx="901205" cy="22800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1192" cy="228092"/>
            </a:xfrm>
            <a:custGeom>
              <a:avLst/>
              <a:gdLst/>
              <a:ahLst/>
              <a:cxnLst/>
              <a:rect r="r" b="b" t="t" l="l"/>
              <a:pathLst>
                <a:path h="228092" w="901192">
                  <a:moveTo>
                    <a:pt x="0" y="114046"/>
                  </a:moveTo>
                  <a:cubicBezTo>
                    <a:pt x="0" y="51054"/>
                    <a:pt x="51054" y="0"/>
                    <a:pt x="114046" y="0"/>
                  </a:cubicBezTo>
                  <a:lnTo>
                    <a:pt x="787146" y="0"/>
                  </a:lnTo>
                  <a:cubicBezTo>
                    <a:pt x="850138" y="0"/>
                    <a:pt x="901192" y="51054"/>
                    <a:pt x="901192" y="114046"/>
                  </a:cubicBezTo>
                  <a:cubicBezTo>
                    <a:pt x="901192" y="177038"/>
                    <a:pt x="850138" y="228092"/>
                    <a:pt x="787146" y="228092"/>
                  </a:cubicBezTo>
                  <a:lnTo>
                    <a:pt x="114046" y="228092"/>
                  </a:lnTo>
                  <a:cubicBezTo>
                    <a:pt x="51054" y="227965"/>
                    <a:pt x="0" y="176911"/>
                    <a:pt x="0" y="114046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smartToy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Trợ lý AI (Gemini)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65" y="2116465"/>
            <a:ext cx="2967904" cy="6699752"/>
            <a:chOff x="0" y="0"/>
            <a:chExt cx="3957206" cy="89330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933053"/>
            </a:xfrm>
            <a:custGeom>
              <a:avLst/>
              <a:gdLst/>
              <a:ahLst/>
              <a:cxnLst/>
              <a:rect r="r" b="b" t="t" l="l"/>
              <a:pathLst>
                <a:path h="8933053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58734" y="9030652"/>
            <a:ext cx="3771900" cy="356397"/>
            <a:chOff x="0" y="0"/>
            <a:chExt cx="5029200" cy="475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9200" cy="475200"/>
            </a:xfrm>
            <a:custGeom>
              <a:avLst/>
              <a:gdLst/>
              <a:ahLst/>
              <a:cxnLst/>
              <a:rect r="r" b="b" t="t" l="l"/>
              <a:pathLst>
                <a:path h="475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7" r="0" b="-1562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29200" cy="50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AIStudyPlannerScreen.kt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58734" y="9359836"/>
            <a:ext cx="3771900" cy="301952"/>
            <a:chOff x="0" y="0"/>
            <a:chExt cx="5029200" cy="4026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402600"/>
            </a:xfrm>
            <a:custGeom>
              <a:avLst/>
              <a:gdLst/>
              <a:ahLst/>
              <a:cxnLst/>
              <a:rect r="r" b="b" t="t" l="l"/>
              <a:pathLst>
                <a:path h="402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02" r="0" b="-1934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029200" cy="43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Giao diện tuỳ chỉnh mục tiêu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94242" y="3009471"/>
            <a:ext cx="8457305" cy="1058399"/>
            <a:chOff x="0" y="0"/>
            <a:chExt cx="11276406" cy="14111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76400" cy="1411200"/>
            </a:xfrm>
            <a:custGeom>
              <a:avLst/>
              <a:gdLst/>
              <a:ahLst/>
              <a:cxnLst/>
              <a:rect r="r" b="b" t="t" l="l"/>
              <a:pathLst>
                <a:path h="1411200" w="11276400">
                  <a:moveTo>
                    <a:pt x="0" y="0"/>
                  </a:moveTo>
                  <a:lnTo>
                    <a:pt x="11276400" y="0"/>
                  </a:lnTo>
                  <a:lnTo>
                    <a:pt x="11276400" y="1411200"/>
                  </a:lnTo>
                  <a:lnTo>
                    <a:pt x="0" y="1411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698" r="0" b="-1056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80975"/>
              <a:ext cx="11276406" cy="1592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53"/>
                </a:lnSpc>
              </a:pPr>
              <a:r>
                <a:rPr lang="en-US" b="true" sz="3420">
                  <a:solidFill>
                    <a:srgbClr val="3F3D5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Planner 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80402" y="4586507"/>
            <a:ext cx="7526474" cy="744522"/>
            <a:chOff x="0" y="0"/>
            <a:chExt cx="10035299" cy="9926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914752" y="4600346"/>
            <a:ext cx="7258050" cy="716852"/>
            <a:chOff x="0" y="0"/>
            <a:chExt cx="9677400" cy="9558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🎯 Thiết lập mục tiêu tổng quan 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780402" y="5463216"/>
            <a:ext cx="7526474" cy="744522"/>
            <a:chOff x="0" y="0"/>
            <a:chExt cx="10035299" cy="99269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8914752" y="5477056"/>
            <a:ext cx="7258050" cy="716852"/>
            <a:chOff x="0" y="0"/>
            <a:chExt cx="9677400" cy="9558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📚 2. Quản lý môn học &amp; Mức độ ưu tiên 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80402" y="6339926"/>
            <a:ext cx="7526474" cy="744522"/>
            <a:chOff x="0" y="0"/>
            <a:chExt cx="10035299" cy="9926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914752" y="6353756"/>
            <a:ext cx="7258050" cy="716852"/>
            <a:chOff x="0" y="0"/>
            <a:chExt cx="9677400" cy="95580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⏰ 3. Tùy chỉnh khung thời gian rảnh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780402" y="7216635"/>
            <a:ext cx="7526474" cy="744522"/>
            <a:chOff x="0" y="0"/>
            <a:chExt cx="10035299" cy="9926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035286" cy="992632"/>
            </a:xfrm>
            <a:custGeom>
              <a:avLst/>
              <a:gdLst/>
              <a:ahLst/>
              <a:cxnLst/>
              <a:rect r="r" b="b" t="t" l="l"/>
              <a:pathLst>
                <a:path h="992632" w="10035286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w="27675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914752" y="7230466"/>
            <a:ext cx="7258050" cy="716852"/>
            <a:chOff x="0" y="0"/>
            <a:chExt cx="9677400" cy="9558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677400" cy="955800"/>
            </a:xfrm>
            <a:custGeom>
              <a:avLst/>
              <a:gdLst/>
              <a:ahLst/>
              <a:cxnLst/>
              <a:rect r="r" b="b" t="t" l="l"/>
              <a:pathLst>
                <a:path h="9558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84" r="0" b="-1472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677400" cy="1003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5"/>
                </a:lnSpc>
              </a:pPr>
              <a:r>
                <a:rPr lang="en-US" sz="2179">
                  <a:solidFill>
                    <a:srgbClr val="3F3D5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✨ 4. Tạo kế hoạch chỉ với 1 chạm (One-tap Generation) 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70023" y="2429875"/>
            <a:ext cx="2717578" cy="6036393"/>
            <a:chOff x="0" y="0"/>
            <a:chExt cx="3623437" cy="804852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23437" cy="8048498"/>
            </a:xfrm>
            <a:custGeom>
              <a:avLst/>
              <a:gdLst/>
              <a:ahLst/>
              <a:cxnLst/>
              <a:rect r="r" b="b" t="t" l="l"/>
              <a:pathLst>
                <a:path h="8048498" w="3623437">
                  <a:moveTo>
                    <a:pt x="0" y="0"/>
                  </a:moveTo>
                  <a:lnTo>
                    <a:pt x="3623437" y="0"/>
                  </a:lnTo>
                  <a:lnTo>
                    <a:pt x="3623437" y="8048498"/>
                  </a:lnTo>
                  <a:lnTo>
                    <a:pt x="0" y="8048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844735" y="2261235"/>
            <a:ext cx="768153" cy="248402"/>
            <a:chOff x="0" y="0"/>
            <a:chExt cx="1024204" cy="33120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24255" cy="331216"/>
            </a:xfrm>
            <a:custGeom>
              <a:avLst/>
              <a:gdLst/>
              <a:ahLst/>
              <a:cxnLst/>
              <a:rect r="r" b="b" t="t" l="l"/>
              <a:pathLst>
                <a:path h="331216" w="1024255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006196" y="2116465"/>
            <a:ext cx="2967904" cy="6699752"/>
            <a:chOff x="0" y="0"/>
            <a:chExt cx="3957206" cy="893300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7320" cy="8933053"/>
            </a:xfrm>
            <a:custGeom>
              <a:avLst/>
              <a:gdLst/>
              <a:ahLst/>
              <a:cxnLst/>
              <a:rect r="r" b="b" t="t" l="l"/>
              <a:pathLst>
                <a:path h="8933053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4131374" y="2448192"/>
            <a:ext cx="2717549" cy="6036297"/>
            <a:chOff x="0" y="0"/>
            <a:chExt cx="3623399" cy="80483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23437" cy="8048371"/>
            </a:xfrm>
            <a:custGeom>
              <a:avLst/>
              <a:gdLst/>
              <a:ahLst/>
              <a:cxnLst/>
              <a:rect r="r" b="b" t="t" l="l"/>
              <a:pathLst>
                <a:path h="8048371" w="3623437">
                  <a:moveTo>
                    <a:pt x="0" y="0"/>
                  </a:moveTo>
                  <a:lnTo>
                    <a:pt x="3623437" y="0"/>
                  </a:lnTo>
                  <a:lnTo>
                    <a:pt x="3623437" y="8048371"/>
                  </a:lnTo>
                  <a:lnTo>
                    <a:pt x="0" y="80483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-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170913" y="2261235"/>
            <a:ext cx="768153" cy="248402"/>
            <a:chOff x="0" y="0"/>
            <a:chExt cx="1024204" cy="3312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4255" cy="331216"/>
            </a:xfrm>
            <a:custGeom>
              <a:avLst/>
              <a:gdLst/>
              <a:ahLst/>
              <a:cxnLst/>
              <a:rect r="r" b="b" t="t" l="l"/>
              <a:pathLst>
                <a:path h="331216" w="1024255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barChar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Thống kê tổng quan (Dashboard)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116455"/>
            <a:ext cx="2967904" cy="6401848"/>
            <a:chOff x="0" y="0"/>
            <a:chExt cx="3957206" cy="85357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960683" y="8879148"/>
            <a:ext cx="3771900" cy="356397"/>
            <a:chOff x="0" y="0"/>
            <a:chExt cx="5029200" cy="475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9200" cy="475200"/>
            </a:xfrm>
            <a:custGeom>
              <a:avLst/>
              <a:gdLst/>
              <a:ahLst/>
              <a:cxnLst/>
              <a:rect r="r" b="b" t="t" l="l"/>
              <a:pathLst>
                <a:path h="475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7" r="0" b="-1562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29200" cy="50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DashboardOverviewScreen.kt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60683" y="9208332"/>
            <a:ext cx="3771900" cy="301952"/>
            <a:chOff x="0" y="0"/>
            <a:chExt cx="5029200" cy="4026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402600"/>
            </a:xfrm>
            <a:custGeom>
              <a:avLst/>
              <a:gdLst/>
              <a:ahLst/>
              <a:cxnLst/>
              <a:rect r="r" b="b" t="t" l="l"/>
              <a:pathLst>
                <a:path h="402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02" r="0" b="-1934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029200" cy="43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Ngày / Tuần / Tháng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0392" y="2333511"/>
            <a:ext cx="2596915" cy="6009075"/>
            <a:chOff x="0" y="0"/>
            <a:chExt cx="3462553" cy="8012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62528" cy="8012049"/>
            </a:xfrm>
            <a:custGeom>
              <a:avLst/>
              <a:gdLst/>
              <a:ahLst/>
              <a:cxnLst/>
              <a:rect r="r" b="b" t="t" l="l"/>
              <a:pathLst>
                <a:path h="8012049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8012049"/>
                  </a:lnTo>
                  <a:lnTo>
                    <a:pt x="0" y="801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8712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44773" y="2261245"/>
            <a:ext cx="768153" cy="213751"/>
            <a:chOff x="0" y="0"/>
            <a:chExt cx="1024204" cy="2850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" cy="284988"/>
            </a:xfrm>
            <a:custGeom>
              <a:avLst/>
              <a:gdLst/>
              <a:ahLst/>
              <a:cxnLst/>
              <a:rect r="r" b="b" t="t" l="l"/>
              <a:pathLst>
                <a:path h="284988" w="1024128">
                  <a:moveTo>
                    <a:pt x="0" y="142494"/>
                  </a:moveTo>
                  <a:cubicBezTo>
                    <a:pt x="0" y="63754"/>
                    <a:pt x="63754" y="0"/>
                    <a:pt x="142494" y="0"/>
                  </a:cubicBezTo>
                  <a:lnTo>
                    <a:pt x="881634" y="0"/>
                  </a:lnTo>
                  <a:cubicBezTo>
                    <a:pt x="960374" y="0"/>
                    <a:pt x="1024128" y="63754"/>
                    <a:pt x="1024128" y="142494"/>
                  </a:cubicBezTo>
                  <a:cubicBezTo>
                    <a:pt x="1024128" y="221234"/>
                    <a:pt x="960374" y="284988"/>
                    <a:pt x="881761" y="284988"/>
                  </a:cubicBezTo>
                  <a:lnTo>
                    <a:pt x="142494" y="284988"/>
                  </a:lnTo>
                  <a:cubicBezTo>
                    <a:pt x="63754" y="284988"/>
                    <a:pt x="0" y="221234"/>
                    <a:pt x="0" y="142494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64521" y="2087804"/>
            <a:ext cx="2967904" cy="6401848"/>
            <a:chOff x="0" y="0"/>
            <a:chExt cx="3957206" cy="8535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050040" y="2333511"/>
            <a:ext cx="2596877" cy="6009075"/>
            <a:chOff x="0" y="0"/>
            <a:chExt cx="3462503" cy="8012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62528" cy="8012049"/>
            </a:xfrm>
            <a:custGeom>
              <a:avLst/>
              <a:gdLst/>
              <a:ahLst/>
              <a:cxnLst/>
              <a:rect r="r" b="b" t="t" l="l"/>
              <a:pathLst>
                <a:path h="8012049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8012049"/>
                  </a:lnTo>
                  <a:lnTo>
                    <a:pt x="0" y="801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3492" r="0" b="-362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964440" y="2281923"/>
            <a:ext cx="768153" cy="213751"/>
            <a:chOff x="0" y="0"/>
            <a:chExt cx="1024204" cy="28500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" cy="284988"/>
            </a:xfrm>
            <a:custGeom>
              <a:avLst/>
              <a:gdLst/>
              <a:ahLst/>
              <a:cxnLst/>
              <a:rect r="r" b="b" t="t" l="l"/>
              <a:pathLst>
                <a:path h="284988" w="1024128">
                  <a:moveTo>
                    <a:pt x="0" y="142494"/>
                  </a:moveTo>
                  <a:cubicBezTo>
                    <a:pt x="0" y="63754"/>
                    <a:pt x="63754" y="0"/>
                    <a:pt x="142494" y="0"/>
                  </a:cubicBezTo>
                  <a:lnTo>
                    <a:pt x="881634" y="0"/>
                  </a:lnTo>
                  <a:cubicBezTo>
                    <a:pt x="960374" y="0"/>
                    <a:pt x="1024128" y="63754"/>
                    <a:pt x="1024128" y="142494"/>
                  </a:cubicBezTo>
                  <a:cubicBezTo>
                    <a:pt x="1024128" y="221234"/>
                    <a:pt x="960374" y="284988"/>
                    <a:pt x="881761" y="284988"/>
                  </a:cubicBezTo>
                  <a:lnTo>
                    <a:pt x="142494" y="284988"/>
                  </a:lnTo>
                  <a:cubicBezTo>
                    <a:pt x="63754" y="284988"/>
                    <a:pt x="0" y="221234"/>
                    <a:pt x="0" y="142494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716013" y="3316110"/>
            <a:ext cx="7778696" cy="3578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Bộ lọc Ngày / Tuần / Tháng, điều hướng tiến–lùi, hiển thị % thay đổi so với giai đoạn trước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Biểu đồ donut nhiều màu: Hoàn thành – Đang làm – Chưa hoàn thành, kèm thông điệp động viên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Hiệu suất theo từng danh mục, chuỗi ngày duy trì 🔥 và độ chính xác lập kế hoạch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Toàn bộ chỉ số được AnalyticsEngine tính trực tiếp từ dữ liệu Room — không cần máy chủ</a:t>
            </a:r>
          </a:p>
        </p:txBody>
      </p:sp>
    </p:spTree>
  </p:cSld>
  <p:clrMapOvr>
    <a:masterClrMapping/>
  </p:clrMapOvr>
  <p:transition spd="fast">
    <p:wipe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insigh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Thống kê theo danh mục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116455"/>
            <a:ext cx="2967990" cy="6402038"/>
            <a:chOff x="0" y="0"/>
            <a:chExt cx="3957320" cy="85360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536051"/>
            </a:xfrm>
            <a:custGeom>
              <a:avLst/>
              <a:gdLst/>
              <a:ahLst/>
              <a:cxnLst/>
              <a:rect r="r" b="b" t="t" l="l"/>
              <a:pathLst>
                <a:path h="8536051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1048"/>
                  </a:lnTo>
                  <a:cubicBezTo>
                    <a:pt x="3957320" y="8354695"/>
                    <a:pt x="3775964" y="8536051"/>
                    <a:pt x="3552317" y="8536051"/>
                  </a:cubicBezTo>
                  <a:lnTo>
                    <a:pt x="405003" y="8536051"/>
                  </a:lnTo>
                  <a:cubicBezTo>
                    <a:pt x="181356" y="8536051"/>
                    <a:pt x="0" y="8354695"/>
                    <a:pt x="0" y="8131048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054704" y="8736425"/>
            <a:ext cx="3771900" cy="356397"/>
            <a:chOff x="0" y="0"/>
            <a:chExt cx="5029200" cy="475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9200" cy="475200"/>
            </a:xfrm>
            <a:custGeom>
              <a:avLst/>
              <a:gdLst/>
              <a:ahLst/>
              <a:cxnLst/>
              <a:rect r="r" b="b" t="t" l="l"/>
              <a:pathLst>
                <a:path h="475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217" r="0" b="-15621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29200" cy="50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CategoryDetailScreen.kt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54704" y="9065609"/>
            <a:ext cx="3771900" cy="301952"/>
            <a:chOff x="0" y="0"/>
            <a:chExt cx="5029200" cy="4026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402600"/>
            </a:xfrm>
            <a:custGeom>
              <a:avLst/>
              <a:gdLst/>
              <a:ahLst/>
              <a:cxnLst/>
              <a:rect r="r" b="b" t="t" l="l"/>
              <a:pathLst>
                <a:path h="4026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402" r="0" b="-1934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029200" cy="431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Đi từ Dashboard → chọn danh mục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3279" y="2338121"/>
            <a:ext cx="2591133" cy="5999845"/>
            <a:chOff x="0" y="0"/>
            <a:chExt cx="3454845" cy="799979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54908" cy="7999857"/>
            </a:xfrm>
            <a:custGeom>
              <a:avLst/>
              <a:gdLst/>
              <a:ahLst/>
              <a:cxnLst/>
              <a:rect r="r" b="b" t="t" l="l"/>
              <a:pathLst>
                <a:path h="7999857" w="3454908">
                  <a:moveTo>
                    <a:pt x="0" y="0"/>
                  </a:moveTo>
                  <a:lnTo>
                    <a:pt x="3454908" y="0"/>
                  </a:lnTo>
                  <a:lnTo>
                    <a:pt x="3454908" y="7999857"/>
                  </a:lnTo>
                  <a:lnTo>
                    <a:pt x="0" y="799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4507" b="-9418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44812" y="2193846"/>
            <a:ext cx="768153" cy="301952"/>
            <a:chOff x="0" y="0"/>
            <a:chExt cx="1024204" cy="4026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255" cy="402590"/>
            </a:xfrm>
            <a:custGeom>
              <a:avLst/>
              <a:gdLst/>
              <a:ahLst/>
              <a:cxnLst/>
              <a:rect r="r" b="b" t="t" l="l"/>
              <a:pathLst>
                <a:path h="402590" w="1024255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071033" y="2137115"/>
            <a:ext cx="2967904" cy="6401848"/>
            <a:chOff x="0" y="0"/>
            <a:chExt cx="3957206" cy="8535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4254265" y="2338121"/>
            <a:ext cx="2591133" cy="5999845"/>
            <a:chOff x="0" y="0"/>
            <a:chExt cx="3454845" cy="79997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54908" cy="7999857"/>
            </a:xfrm>
            <a:custGeom>
              <a:avLst/>
              <a:gdLst/>
              <a:ahLst/>
              <a:cxnLst/>
              <a:rect r="r" b="b" t="t" l="l"/>
              <a:pathLst>
                <a:path h="7999857" w="3454908">
                  <a:moveTo>
                    <a:pt x="0" y="0"/>
                  </a:moveTo>
                  <a:lnTo>
                    <a:pt x="3454908" y="0"/>
                  </a:lnTo>
                  <a:lnTo>
                    <a:pt x="3454908" y="7999857"/>
                  </a:lnTo>
                  <a:lnTo>
                    <a:pt x="0" y="7999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6108" r="-10921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170913" y="2193846"/>
            <a:ext cx="768153" cy="301952"/>
            <a:chOff x="0" y="0"/>
            <a:chExt cx="1024204" cy="40260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255" cy="402590"/>
            </a:xfrm>
            <a:custGeom>
              <a:avLst/>
              <a:gdLst/>
              <a:ahLst/>
              <a:cxnLst/>
              <a:rect r="r" b="b" t="t" l="l"/>
              <a:pathLst>
                <a:path h="402590" w="1024255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684628" y="3228527"/>
            <a:ext cx="7785002" cy="4142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Thanh danh mục cuộn ngang, hiển thị đúng các danh mục người dùng đã tạo trong Cài đặt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Tỉ lệ hoàn thành nổi bật kèm biểu đồ cột theo từng ngày trong tuần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So sánh Tuần này / Tuần trước bằng thanh ngang và mũi tên xu hướng ↑ / ↓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Biểu đồ donut phân bổ công việc theo khung giờ trong ngày (sáng / chiều / tối)</a:t>
            </a:r>
          </a:p>
          <a:p>
            <a:pPr algn="l" marL="341947" indent="-170973" lvl="1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Danh sách nhiệm vụ nổi bật và đường xu hướng hoàn thành 4 tuần gần nhất</a:t>
            </a:r>
          </a:p>
        </p:txBody>
      </p:sp>
    </p:spTree>
  </p:cSld>
  <p:clrMapOvr>
    <a:masterClrMapping/>
  </p:clrMapOvr>
  <p:transition spd="fast">
    <p:wipe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insigh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Thống kê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116455"/>
            <a:ext cx="2967904" cy="6401848"/>
            <a:chOff x="0" y="0"/>
            <a:chExt cx="3957206" cy="85357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071033" y="2137115"/>
            <a:ext cx="2967904" cy="6401848"/>
            <a:chOff x="0" y="0"/>
            <a:chExt cx="3957206" cy="85357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291203" y="2364896"/>
            <a:ext cx="2527611" cy="6019762"/>
            <a:chOff x="0" y="0"/>
            <a:chExt cx="3370148" cy="802634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70199" cy="8026400"/>
            </a:xfrm>
            <a:custGeom>
              <a:avLst/>
              <a:gdLst/>
              <a:ahLst/>
              <a:cxnLst/>
              <a:rect r="r" b="b" t="t" l="l"/>
              <a:pathLst>
                <a:path h="8026400" w="3370199">
                  <a:moveTo>
                    <a:pt x="0" y="0"/>
                  </a:moveTo>
                  <a:lnTo>
                    <a:pt x="3370199" y="0"/>
                  </a:lnTo>
                  <a:lnTo>
                    <a:pt x="3370199" y="8026400"/>
                  </a:lnTo>
                  <a:lnTo>
                    <a:pt x="0" y="802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5221" r="-1207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170913" y="2193855"/>
            <a:ext cx="768153" cy="229953"/>
            <a:chOff x="0" y="0"/>
            <a:chExt cx="1024204" cy="3066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" cy="306578"/>
            </a:xfrm>
            <a:custGeom>
              <a:avLst/>
              <a:gdLst/>
              <a:ahLst/>
              <a:cxnLst/>
              <a:rect r="r" b="b" t="t" l="l"/>
              <a:pathLst>
                <a:path h="306578" w="1024128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870839" y="0"/>
                  </a:lnTo>
                  <a:cubicBezTo>
                    <a:pt x="955548" y="0"/>
                    <a:pt x="1024128" y="68580"/>
                    <a:pt x="1024128" y="153289"/>
                  </a:cubicBezTo>
                  <a:cubicBezTo>
                    <a:pt x="1024128" y="237998"/>
                    <a:pt x="955548" y="306578"/>
                    <a:pt x="870839" y="306578"/>
                  </a:cubicBezTo>
                  <a:lnTo>
                    <a:pt x="153289" y="306578"/>
                  </a:lnTo>
                  <a:cubicBezTo>
                    <a:pt x="68580" y="306578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10" y="2327329"/>
            <a:ext cx="2527611" cy="6019762"/>
            <a:chOff x="0" y="0"/>
            <a:chExt cx="3370148" cy="80263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70199" cy="8026400"/>
            </a:xfrm>
            <a:custGeom>
              <a:avLst/>
              <a:gdLst/>
              <a:ahLst/>
              <a:cxnLst/>
              <a:rect r="r" b="b" t="t" l="l"/>
              <a:pathLst>
                <a:path h="8026400" w="3370199">
                  <a:moveTo>
                    <a:pt x="0" y="0"/>
                  </a:moveTo>
                  <a:lnTo>
                    <a:pt x="3370199" y="0"/>
                  </a:lnTo>
                  <a:lnTo>
                    <a:pt x="3370199" y="8026400"/>
                  </a:lnTo>
                  <a:lnTo>
                    <a:pt x="0" y="802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9782" r="1" b="-12262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44812" y="2193855"/>
            <a:ext cx="768153" cy="171002"/>
            <a:chOff x="0" y="0"/>
            <a:chExt cx="1024204" cy="2280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255" cy="228092"/>
            </a:xfrm>
            <a:custGeom>
              <a:avLst/>
              <a:gdLst/>
              <a:ahLst/>
              <a:cxnLst/>
              <a:rect r="r" b="b" t="t" l="l"/>
              <a:pathLst>
                <a:path h="228092" w="1024255">
                  <a:moveTo>
                    <a:pt x="0" y="114046"/>
                  </a:moveTo>
                  <a:cubicBezTo>
                    <a:pt x="0" y="51054"/>
                    <a:pt x="51054" y="0"/>
                    <a:pt x="114046" y="0"/>
                  </a:cubicBezTo>
                  <a:lnTo>
                    <a:pt x="910209" y="0"/>
                  </a:lnTo>
                  <a:cubicBezTo>
                    <a:pt x="973201" y="0"/>
                    <a:pt x="1024255" y="51054"/>
                    <a:pt x="1024255" y="114046"/>
                  </a:cubicBezTo>
                  <a:cubicBezTo>
                    <a:pt x="1024255" y="177038"/>
                    <a:pt x="973201" y="228092"/>
                    <a:pt x="910209" y="228092"/>
                  </a:cubicBezTo>
                  <a:lnTo>
                    <a:pt x="114046" y="228092"/>
                  </a:lnTo>
                  <a:cubicBezTo>
                    <a:pt x="51054" y="227965"/>
                    <a:pt x="0" y="176911"/>
                    <a:pt x="0" y="114046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000601" y="2374754"/>
            <a:ext cx="7612199" cy="596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Banner “AI phân tích tuần này” tóm tắt 2–3 câu về tỉ lệ hoàn thành, so sánh với tuần trước, sinh bởi Gemini kèm bản dự phòng rule-based khi mất mạng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Thẻ Điểm mạnh và Cần cải thiện liệt kê các nhận xét cụ thể, tính từ dữ liệu Room qua AnalyticsEngine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Mẫu hình &amp; thói quen: ngày và khung giờ hiệu quả nhất / kém hiệu quả nhất trong tuần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Gợi ý cho tuần tới: danh sách hành động đánh số, ngôn ngữ tự nhiên, mang tính động viên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Mục tiêu đề xuất kèm nút “Thêm vào lịch” để tạo nhanh sự kiện mới cho tuần sau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Nút làm mới gọi lại Gemini theo dữ liệu tuần hiện tại, có trạng thái tải riêng biệt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966084" y="8766848"/>
            <a:ext cx="3771900" cy="411299"/>
            <a:chOff x="0" y="0"/>
            <a:chExt cx="5029200" cy="5483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29200" cy="548400"/>
            </a:xfrm>
            <a:custGeom>
              <a:avLst/>
              <a:gdLst/>
              <a:ahLst/>
              <a:cxnLst/>
              <a:rect r="r" b="b" t="t" l="l"/>
              <a:pathLst>
                <a:path h="5484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91" r="0" b="-12869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029200" cy="576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AIWeeklyReviewScreen.kt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966084" y="9178328"/>
            <a:ext cx="3771900" cy="329403"/>
            <a:chOff x="0" y="0"/>
            <a:chExt cx="5029200" cy="4392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29200" cy="439200"/>
            </a:xfrm>
            <a:custGeom>
              <a:avLst/>
              <a:gdLst/>
              <a:ahLst/>
              <a:cxnLst/>
              <a:rect r="r" b="b" t="t" l="l"/>
              <a:pathLst>
                <a:path h="439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39200"/>
                  </a:lnTo>
                  <a:lnTo>
                    <a:pt x="0" y="43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19" r="0" b="-1731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5029200" cy="467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Thẻ Thống kê → Banner AI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497" cy="850497"/>
            <a:chOff x="0" y="0"/>
            <a:chExt cx="1133996" cy="113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983" cy="1133983"/>
            </a:xfrm>
            <a:custGeom>
              <a:avLst/>
              <a:gdLst/>
              <a:ahLst/>
              <a:cxnLst/>
              <a:rect r="r" b="b" t="t" l="l"/>
              <a:pathLst>
                <a:path h="1133983" w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73836" y="905256"/>
            <a:ext cx="438912" cy="438912"/>
            <a:chOff x="0" y="0"/>
            <a:chExt cx="585216" cy="585216"/>
          </a:xfrm>
        </p:grpSpPr>
        <p:sp>
          <p:nvSpPr>
            <p:cNvPr name="Freeform 5" id="5" descr="/home/claude/gen/icon_robot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3848"/>
            <a:chOff x="0" y="0"/>
            <a:chExt cx="14630400" cy="511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7002" r="0" b="-50700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49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153"/>
            <a:chOff x="0" y="0"/>
            <a:chExt cx="19202400" cy="10242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200"/>
            </a:xfrm>
            <a:custGeom>
              <a:avLst/>
              <a:gdLst/>
              <a:ahLst/>
              <a:cxnLst/>
              <a:rect r="r" b="b" t="t" l="l"/>
              <a:pathLst>
                <a:path h="10242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18" r="0" b="-3153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Trò chuyện đào sâu cùng AI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3848"/>
            <a:chOff x="0" y="0"/>
            <a:chExt cx="12801600" cy="5117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1800"/>
            </a:xfrm>
            <a:custGeom>
              <a:avLst/>
              <a:gdLst/>
              <a:ahLst/>
              <a:cxnLst/>
              <a:rect r="r" b="b" t="t" l="l"/>
              <a:pathLst>
                <a:path h="51180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377" r="0" b="-43737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57448" y="9765792"/>
            <a:ext cx="823046" cy="383848"/>
            <a:chOff x="0" y="0"/>
            <a:chExt cx="1097394" cy="511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400" cy="511800"/>
            </a:xfrm>
            <a:custGeom>
              <a:avLst/>
              <a:gdLst/>
              <a:ahLst/>
              <a:cxnLst/>
              <a:rect r="r" b="b" t="t" l="l"/>
              <a:pathLst>
                <a:path h="511800" w="10974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37" t="0" r="-98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394" cy="540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72698" y="2101501"/>
            <a:ext cx="3266704" cy="6565201"/>
            <a:chOff x="0" y="0"/>
            <a:chExt cx="4355605" cy="87536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55592" cy="8753602"/>
            </a:xfrm>
            <a:custGeom>
              <a:avLst/>
              <a:gdLst/>
              <a:ahLst/>
              <a:cxnLst/>
              <a:rect r="r" b="b" t="t" l="l"/>
              <a:pathLst>
                <a:path h="8753602" w="4355592">
                  <a:moveTo>
                    <a:pt x="0" y="364617"/>
                  </a:moveTo>
                  <a:cubicBezTo>
                    <a:pt x="0" y="163322"/>
                    <a:pt x="163322" y="0"/>
                    <a:pt x="364617" y="0"/>
                  </a:cubicBezTo>
                  <a:lnTo>
                    <a:pt x="3990975" y="0"/>
                  </a:lnTo>
                  <a:cubicBezTo>
                    <a:pt x="4192397" y="0"/>
                    <a:pt x="4355592" y="163322"/>
                    <a:pt x="4355592" y="364617"/>
                  </a:cubicBezTo>
                  <a:lnTo>
                    <a:pt x="4355592" y="8388985"/>
                  </a:lnTo>
                  <a:cubicBezTo>
                    <a:pt x="4355592" y="8590407"/>
                    <a:pt x="4192270" y="8753602"/>
                    <a:pt x="3990975" y="8753602"/>
                  </a:cubicBezTo>
                  <a:lnTo>
                    <a:pt x="364617" y="8753602"/>
                  </a:lnTo>
                  <a:cubicBezTo>
                    <a:pt x="163322" y="8753602"/>
                    <a:pt x="0" y="8590280"/>
                    <a:pt x="0" y="8388985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844802" y="2276856"/>
            <a:ext cx="768153" cy="123301"/>
            <a:chOff x="0" y="0"/>
            <a:chExt cx="1024204" cy="1644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64338"/>
            </a:xfrm>
            <a:custGeom>
              <a:avLst/>
              <a:gdLst/>
              <a:ahLst/>
              <a:cxnLst/>
              <a:rect r="r" b="b" t="t" l="l"/>
              <a:pathLst>
                <a:path h="164338" w="102412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lnTo>
                    <a:pt x="941959" y="0"/>
                  </a:lnTo>
                  <a:cubicBezTo>
                    <a:pt x="987298" y="0"/>
                    <a:pt x="1024128" y="36830"/>
                    <a:pt x="1024128" y="82169"/>
                  </a:cubicBezTo>
                  <a:cubicBezTo>
                    <a:pt x="1024128" y="127508"/>
                    <a:pt x="987298" y="164338"/>
                    <a:pt x="941959" y="164338"/>
                  </a:cubicBezTo>
                  <a:lnTo>
                    <a:pt x="82169" y="164338"/>
                  </a:ln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38161" y="8820436"/>
            <a:ext cx="3771900" cy="411299"/>
            <a:chOff x="0" y="0"/>
            <a:chExt cx="5029200" cy="54839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29200" cy="548400"/>
            </a:xfrm>
            <a:custGeom>
              <a:avLst/>
              <a:gdLst/>
              <a:ahLst/>
              <a:cxnLst/>
              <a:rect r="r" b="b" t="t" l="l"/>
              <a:pathLst>
                <a:path h="5484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548400"/>
                  </a:lnTo>
                  <a:lnTo>
                    <a:pt x="0" y="54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91" r="0" b="-1286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029200" cy="576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AIWeeklyReviewViewModel.kt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8161" y="9231916"/>
            <a:ext cx="3771900" cy="329403"/>
            <a:chOff x="0" y="0"/>
            <a:chExt cx="5029200" cy="4392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9200" cy="439200"/>
            </a:xfrm>
            <a:custGeom>
              <a:avLst/>
              <a:gdLst/>
              <a:ahLst/>
              <a:cxnLst/>
              <a:rect r="r" b="b" t="t" l="l"/>
              <a:pathLst>
                <a:path h="439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39200"/>
                  </a:lnTo>
                  <a:lnTo>
                    <a:pt x="0" y="43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19" r="0" b="-1731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5029200" cy="467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askAIQuestion()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349814" y="2529488"/>
            <a:ext cx="8702097" cy="599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3382" indent="-191691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Ô nhập câu hỏi tự do bên dưới bản phân tích tuần, cho phép người dùng đào sâu thêm bất kỳ khía cạnh nào</a:t>
            </a:r>
          </a:p>
          <a:p>
            <a:pPr algn="l" marL="383382" indent="-191691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ViewModel gửi câu hỏi kèm system prompt chứa toàn bộ dữ liệu tuần (tóm tắt, điểm mạnh, cần cải thiện, thói quen) tới Gemini</a:t>
            </a:r>
          </a:p>
          <a:p>
            <a:pPr algn="l" marL="383382" indent="-191691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Lịch sử hội thoại lưu trong phiên làm việc dưới dạng danh sách AIInteractionMessage, phân biệt người dùng / AI</a:t>
            </a:r>
          </a:p>
          <a:p>
            <a:pPr algn="l" marL="383382" indent="-191691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Có trạng thái đang hỏi AI riêng (isAskingAI) để hiện hiệu ứng chờ trên giao diện</a:t>
            </a:r>
          </a:p>
          <a:p>
            <a:pPr algn="l" marL="383382" indent="-191691" lvl="1">
              <a:lnSpc>
                <a:spcPts val="3104"/>
              </a:lnSpc>
              <a:buFont typeface="Arial"/>
              <a:buChar char="•"/>
            </a:pPr>
            <a:r>
              <a:rPr lang="en-US" sz="2250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Khi mất mạng hoặc chưa cấu hình API key, hệ thống tự sinh câu trả lời dự phòng dựa trên dữ liệu phân tích sẵn có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643024" y="2253672"/>
            <a:ext cx="2938386" cy="6268764"/>
            <a:chOff x="0" y="0"/>
            <a:chExt cx="3917848" cy="83583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17823" cy="8358378"/>
            </a:xfrm>
            <a:custGeom>
              <a:avLst/>
              <a:gdLst/>
              <a:ahLst/>
              <a:cxnLst/>
              <a:rect r="r" b="b" t="t" l="l"/>
              <a:pathLst>
                <a:path h="8358378" w="3917823">
                  <a:moveTo>
                    <a:pt x="0" y="0"/>
                  </a:moveTo>
                  <a:lnTo>
                    <a:pt x="3917823" y="0"/>
                  </a:lnTo>
                  <a:lnTo>
                    <a:pt x="3917823" y="8358378"/>
                  </a:lnTo>
                  <a:lnTo>
                    <a:pt x="0" y="8358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929" r="-67" b="-67328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94135" y="2111026"/>
            <a:ext cx="768153" cy="313201"/>
            <a:chOff x="0" y="0"/>
            <a:chExt cx="1024204" cy="4176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" cy="417576"/>
            </a:xfrm>
            <a:custGeom>
              <a:avLst/>
              <a:gdLst/>
              <a:ahLst/>
              <a:cxnLst/>
              <a:rect r="r" b="b" t="t" l="l"/>
              <a:pathLst>
                <a:path h="417576" w="1024128">
                  <a:moveTo>
                    <a:pt x="0" y="208788"/>
                  </a:moveTo>
                  <a:cubicBezTo>
                    <a:pt x="0" y="93472"/>
                    <a:pt x="93472" y="0"/>
                    <a:pt x="208788" y="0"/>
                  </a:cubicBezTo>
                  <a:lnTo>
                    <a:pt x="815340" y="0"/>
                  </a:lnTo>
                  <a:cubicBezTo>
                    <a:pt x="930656" y="0"/>
                    <a:pt x="1024128" y="93472"/>
                    <a:pt x="1024128" y="208788"/>
                  </a:cubicBezTo>
                  <a:cubicBezTo>
                    <a:pt x="1024128" y="324104"/>
                    <a:pt x="930656" y="417576"/>
                    <a:pt x="815340" y="417576"/>
                  </a:cubicBezTo>
                  <a:lnTo>
                    <a:pt x="208788" y="417576"/>
                  </a:lnTo>
                  <a:cubicBezTo>
                    <a:pt x="93472" y="417576"/>
                    <a:pt x="0" y="324104"/>
                    <a:pt x="0" y="208788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settings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05 · CHỨC NĂNG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Cài đặt &amp; Dữ liệu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116455"/>
            <a:ext cx="2967904" cy="6401848"/>
            <a:chOff x="0" y="0"/>
            <a:chExt cx="3957206" cy="85357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7320" cy="8535924"/>
            </a:xfrm>
            <a:custGeom>
              <a:avLst/>
              <a:gdLst/>
              <a:ahLst/>
              <a:cxnLst/>
              <a:rect r="r" b="b" t="t" l="l"/>
              <a:pathLst>
                <a:path h="8535924" w="3957320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w="19050" cap="sq">
              <a:solidFill>
                <a:srgbClr val="0B0A1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42900" y="8591264"/>
            <a:ext cx="3771900" cy="356616"/>
            <a:chOff x="0" y="0"/>
            <a:chExt cx="5029200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9200" cy="475488"/>
            </a:xfrm>
            <a:custGeom>
              <a:avLst/>
              <a:gdLst/>
              <a:ahLst/>
              <a:cxnLst/>
              <a:rect r="r" b="b" t="t" l="l"/>
              <a:pathLst>
                <a:path h="475488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091" r="0" b="-1560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5029200" cy="5040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SettingsScreen.kt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42900" y="8920448"/>
            <a:ext cx="3771900" cy="301752"/>
            <a:chOff x="0" y="0"/>
            <a:chExt cx="5029200" cy="4023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29200" cy="402336"/>
            </a:xfrm>
            <a:custGeom>
              <a:avLst/>
              <a:gdLst/>
              <a:ahLst/>
              <a:cxnLst/>
              <a:rect r="r" b="b" t="t" l="l"/>
              <a:pathLst>
                <a:path h="402336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029200" cy="4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nhóm cài đặt dạng thẻ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32020" y="219456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896612" y="2359152"/>
            <a:ext cx="356616" cy="356616"/>
            <a:chOff x="0" y="0"/>
            <a:chExt cx="475488" cy="475488"/>
          </a:xfrm>
        </p:grpSpPr>
        <p:sp>
          <p:nvSpPr>
            <p:cNvPr name="Freeform 29" id="29" descr="/home/claude/icons/category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664708" y="2167128"/>
            <a:ext cx="11868455" cy="466344"/>
            <a:chOff x="0" y="0"/>
            <a:chExt cx="15824606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824606" cy="621792"/>
            </a:xfrm>
            <a:custGeom>
              <a:avLst/>
              <a:gdLst/>
              <a:ahLst/>
              <a:cxnLst/>
              <a:rect r="r" b="b" t="t" l="l"/>
              <a:pathLst>
                <a:path h="621792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894" r="0" b="-4458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824606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Quản lý danh mục sự kiện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664708" y="2633472"/>
            <a:ext cx="11868455" cy="685800"/>
            <a:chOff x="0" y="0"/>
            <a:chExt cx="15824606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824606" cy="914400"/>
            </a:xfrm>
            <a:custGeom>
              <a:avLst/>
              <a:gdLst/>
              <a:ahLst/>
              <a:cxnLst/>
              <a:rect r="r" b="b" t="t" l="l"/>
              <a:pathLst>
                <a:path h="914400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08" r="0" b="-2872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5824606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Thêm / xoá danh mục, tối đa 5 danh mục với 8 màu preset để chọn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732020" y="349758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896612" y="3662172"/>
            <a:ext cx="356616" cy="356616"/>
            <a:chOff x="0" y="0"/>
            <a:chExt cx="475488" cy="475488"/>
          </a:xfrm>
        </p:grpSpPr>
        <p:sp>
          <p:nvSpPr>
            <p:cNvPr name="Freeform 39" id="39" descr="/home/claude/icons/bell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664708" y="3470148"/>
            <a:ext cx="11868455" cy="466344"/>
            <a:chOff x="0" y="0"/>
            <a:chExt cx="15824606" cy="6217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824606" cy="621792"/>
            </a:xfrm>
            <a:custGeom>
              <a:avLst/>
              <a:gdLst/>
              <a:ahLst/>
              <a:cxnLst/>
              <a:rect r="r" b="b" t="t" l="l"/>
              <a:pathLst>
                <a:path h="621792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894" r="0" b="-4458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5824606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Thông báo &amp; âm thanh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664708" y="3936492"/>
            <a:ext cx="11868455" cy="685800"/>
            <a:chOff x="0" y="0"/>
            <a:chExt cx="15824606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824606" cy="914400"/>
            </a:xfrm>
            <a:custGeom>
              <a:avLst/>
              <a:gdLst/>
              <a:ahLst/>
              <a:cxnLst/>
              <a:rect r="r" b="b" t="t" l="l"/>
              <a:pathLst>
                <a:path h="914400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08" r="0" b="-28720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15824606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Bật/tắt thông báo sự kiện, âm thanh nhắc nhở, có nút thử nghiệm nhanh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32020" y="4800600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896612" y="4965192"/>
            <a:ext cx="356616" cy="356616"/>
            <a:chOff x="0" y="0"/>
            <a:chExt cx="475488" cy="475488"/>
          </a:xfrm>
        </p:grpSpPr>
        <p:sp>
          <p:nvSpPr>
            <p:cNvPr name="Freeform 49" id="49" descr="/home/claude/icons/darkMode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664708" y="4773168"/>
            <a:ext cx="11868455" cy="466344"/>
            <a:chOff x="0" y="0"/>
            <a:chExt cx="15824606" cy="6217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824606" cy="621792"/>
            </a:xfrm>
            <a:custGeom>
              <a:avLst/>
              <a:gdLst/>
              <a:ahLst/>
              <a:cxnLst/>
              <a:rect r="r" b="b" t="t" l="l"/>
              <a:pathLst>
                <a:path h="621792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894" r="0" b="-4458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5824606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Sáng / Tối / Hệ thống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664708" y="5239512"/>
            <a:ext cx="11868455" cy="685800"/>
            <a:chOff x="0" y="0"/>
            <a:chExt cx="15824606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824606" cy="914400"/>
            </a:xfrm>
            <a:custGeom>
              <a:avLst/>
              <a:gdLst/>
              <a:ahLst/>
              <a:cxnLst/>
              <a:rect r="r" b="b" t="t" l="l"/>
              <a:pathLst>
                <a:path h="914400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08" r="0" b="-2872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15824606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Chuyển đổi theme tức thời, áp dụng cho toàn bộ ứng dụng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32020" y="6103620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896612" y="6268212"/>
            <a:ext cx="356616" cy="356616"/>
            <a:chOff x="0" y="0"/>
            <a:chExt cx="475488" cy="475488"/>
          </a:xfrm>
        </p:grpSpPr>
        <p:sp>
          <p:nvSpPr>
            <p:cNvPr name="Freeform 59" id="59" descr="/home/claude/icons/moon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64708" y="6076188"/>
            <a:ext cx="11868455" cy="466344"/>
            <a:chOff x="0" y="0"/>
            <a:chExt cx="15824606" cy="6217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824606" cy="621792"/>
            </a:xfrm>
            <a:custGeom>
              <a:avLst/>
              <a:gdLst/>
              <a:ahLst/>
              <a:cxnLst/>
              <a:rect r="r" b="b" t="t" l="l"/>
              <a:pathLst>
                <a:path h="621792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894" r="0" b="-44589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5824606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Hiển thị Lịch Âm Dương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664708" y="6542532"/>
            <a:ext cx="11868455" cy="685800"/>
            <a:chOff x="0" y="0"/>
            <a:chExt cx="15824606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824606" cy="914400"/>
            </a:xfrm>
            <a:custGeom>
              <a:avLst/>
              <a:gdLst/>
              <a:ahLst/>
              <a:cxnLst/>
              <a:rect r="r" b="b" t="t" l="l"/>
              <a:pathLst>
                <a:path h="914400" w="15824606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08" r="0" b="-28720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85725"/>
              <a:ext cx="15824606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Bật/tắt hiển thị ngày Âm trên Trang chủ và Lịch trình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4732020" y="7434043"/>
            <a:ext cx="685800" cy="685800"/>
            <a:chOff x="0" y="0"/>
            <a:chExt cx="91440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664708" y="7406611"/>
            <a:ext cx="11868302" cy="466201"/>
            <a:chOff x="0" y="0"/>
            <a:chExt cx="15824403" cy="62160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824400" cy="621600"/>
            </a:xfrm>
            <a:custGeom>
              <a:avLst/>
              <a:gdLst/>
              <a:ahLst/>
              <a:cxnLst/>
              <a:rect r="r" b="b" t="t" l="l"/>
              <a:pathLst>
                <a:path h="621600" w="15824400">
                  <a:moveTo>
                    <a:pt x="0" y="0"/>
                  </a:moveTo>
                  <a:lnTo>
                    <a:pt x="15824400" y="0"/>
                  </a:lnTo>
                  <a:lnTo>
                    <a:pt x="158244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040" r="0" b="-44604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5824403" cy="659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Hiển thị Thời tiết 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5664708" y="7872955"/>
            <a:ext cx="11868302" cy="685800"/>
            <a:chOff x="0" y="0"/>
            <a:chExt cx="15824403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82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824400">
                  <a:moveTo>
                    <a:pt x="0" y="0"/>
                  </a:moveTo>
                  <a:lnTo>
                    <a:pt x="15824400" y="0"/>
                  </a:lnTo>
                  <a:lnTo>
                    <a:pt x="1582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03" r="0" b="-28720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15824403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16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Bật/tắt hiển thị thời tiết trên Trang chủ và Lịch trình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4894983" y="7470791"/>
            <a:ext cx="359854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62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☁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60110" y="2306498"/>
            <a:ext cx="2502494" cy="6039764"/>
            <a:chOff x="0" y="0"/>
            <a:chExt cx="3336658" cy="805301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336671" cy="8053070"/>
            </a:xfrm>
            <a:custGeom>
              <a:avLst/>
              <a:gdLst/>
              <a:ahLst/>
              <a:cxnLst/>
              <a:rect r="r" b="b" t="t" l="l"/>
              <a:pathLst>
                <a:path h="8053070" w="3336671">
                  <a:moveTo>
                    <a:pt x="0" y="0"/>
                  </a:moveTo>
                  <a:lnTo>
                    <a:pt x="3336671" y="0"/>
                  </a:lnTo>
                  <a:lnTo>
                    <a:pt x="3336671" y="8053070"/>
                  </a:lnTo>
                  <a:lnTo>
                    <a:pt x="0" y="8053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1135" r="0" b="-11134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844812" y="2193865"/>
            <a:ext cx="768153" cy="301952"/>
            <a:chOff x="0" y="0"/>
            <a:chExt cx="1024204" cy="40260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255" cy="402590"/>
            </a:xfrm>
            <a:custGeom>
              <a:avLst/>
              <a:gdLst/>
              <a:ahLst/>
              <a:cxnLst/>
              <a:rect r="r" b="b" t="t" l="l"/>
              <a:pathLst>
                <a:path h="402590" w="1024255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</p:spPr>
        </p:sp>
      </p:grpSp>
    </p:spTree>
  </p:cSld>
  <p:clrMapOvr>
    <a:masterClrMapping/>
  </p:clrMapOvr>
  <p:transition spd="fast">
    <p:wipe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widgets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06 · WIDGET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Widget màn hình chính — 3 kiểu widget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4380" y="9326880"/>
            <a:ext cx="16778783" cy="548640"/>
            <a:chOff x="0" y="0"/>
            <a:chExt cx="2237171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71710" cy="731520"/>
            </a:xfrm>
            <a:custGeom>
              <a:avLst/>
              <a:gdLst/>
              <a:ahLst/>
              <a:cxnLst/>
              <a:rect r="r" b="b" t="t" l="l"/>
              <a:pathLst>
                <a:path h="73152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901" r="0" b="-54590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237171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Mỗi widget đọc dữ liệu qua WidgetDataHelper, tự đổi giao diện Sáng/Tối, có nút thêm nhanh và mở app.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55590" y="2109788"/>
            <a:ext cx="10538546" cy="466201"/>
            <a:chOff x="0" y="0"/>
            <a:chExt cx="14051394" cy="6216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51400" cy="621600"/>
            </a:xfrm>
            <a:custGeom>
              <a:avLst/>
              <a:gdLst/>
              <a:ahLst/>
              <a:cxnLst/>
              <a:rect r="r" b="b" t="t" l="l"/>
              <a:pathLst>
                <a:path h="621600" w="140514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463" r="0" b="-39046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051394" cy="659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Widget vuông 2x2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355590" y="5845083"/>
            <a:ext cx="10538546" cy="466201"/>
            <a:chOff x="0" y="0"/>
            <a:chExt cx="14051394" cy="6216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051400" cy="621600"/>
            </a:xfrm>
            <a:custGeom>
              <a:avLst/>
              <a:gdLst/>
              <a:ahLst/>
              <a:cxnLst/>
              <a:rect r="r" b="b" t="t" l="l"/>
              <a:pathLst>
                <a:path h="621600" w="140514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463" r="0" b="-3904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051394" cy="659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Widget ngang 4x1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355590" y="7585967"/>
            <a:ext cx="10538546" cy="466201"/>
            <a:chOff x="0" y="0"/>
            <a:chExt cx="14051394" cy="6216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051400" cy="621600"/>
            </a:xfrm>
            <a:custGeom>
              <a:avLst/>
              <a:gdLst/>
              <a:ahLst/>
              <a:cxnLst/>
              <a:rect r="r" b="b" t="t" l="l"/>
              <a:pathLst>
                <a:path h="621600" w="140514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0463" r="0" b="-39046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4051394" cy="659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E1E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Widget nhỏ 2x1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050001" y="1984248"/>
            <a:ext cx="6210862" cy="7114032"/>
            <a:chOff x="0" y="0"/>
            <a:chExt cx="8281149" cy="948537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81162" cy="9485376"/>
            </a:xfrm>
            <a:custGeom>
              <a:avLst/>
              <a:gdLst/>
              <a:ahLst/>
              <a:cxnLst/>
              <a:rect r="r" b="b" t="t" l="l"/>
              <a:pathLst>
                <a:path h="9485376" w="8281162">
                  <a:moveTo>
                    <a:pt x="0" y="0"/>
                  </a:moveTo>
                  <a:lnTo>
                    <a:pt x="8281162" y="0"/>
                  </a:lnTo>
                  <a:lnTo>
                    <a:pt x="8281162" y="9485376"/>
                  </a:lnTo>
                  <a:lnTo>
                    <a:pt x="0" y="9485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wipe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bell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06 · HỆ THỐNG NỀN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Nhắc nhở thông minh &amp; Lịch Âm Dương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322195"/>
            <a:ext cx="8065541" cy="7014210"/>
            <a:chOff x="0" y="0"/>
            <a:chExt cx="10754055" cy="9352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3979" cy="9352280"/>
            </a:xfrm>
            <a:custGeom>
              <a:avLst/>
              <a:gdLst/>
              <a:ahLst/>
              <a:cxnLst/>
              <a:rect r="r" b="b" t="t" l="l"/>
              <a:pathLst>
                <a:path h="9352280" w="10753979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312" y="0"/>
                  </a:lnTo>
                  <a:cubicBezTo>
                    <a:pt x="10639044" y="0"/>
                    <a:pt x="10753979" y="114935"/>
                    <a:pt x="10753979" y="256667"/>
                  </a:cubicBezTo>
                  <a:lnTo>
                    <a:pt x="10753979" y="9095613"/>
                  </a:lnTo>
                  <a:cubicBezTo>
                    <a:pt x="10753979" y="9237345"/>
                    <a:pt x="10639044" y="9352280"/>
                    <a:pt x="10497312" y="9352280"/>
                  </a:cubicBezTo>
                  <a:lnTo>
                    <a:pt x="256667" y="9352280"/>
                  </a:lnTo>
                  <a:cubicBezTo>
                    <a:pt x="114935" y="9352280"/>
                    <a:pt x="0" y="9237345"/>
                    <a:pt x="0" y="909561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74320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2921508"/>
            <a:ext cx="411480" cy="411480"/>
            <a:chOff x="0" y="0"/>
            <a:chExt cx="548640" cy="548640"/>
          </a:xfrm>
        </p:grpSpPr>
        <p:sp>
          <p:nvSpPr>
            <p:cNvPr name="Freeform 23" id="23" descr="/home/claude/icons/notif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25980" y="2798064"/>
            <a:ext cx="6400571" cy="658368"/>
            <a:chOff x="0" y="0"/>
            <a:chExt cx="8534095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8534095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Thông báo &amp; Nhắc nhở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25861" y="3779501"/>
            <a:ext cx="6903520" cy="51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AlarmManager lên lịch thông báo chính xác theo thời điểm sự kiện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2 kênh thông báo riêng biệt: có âm thanh và im lặng (NotificationChannel)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Tự động xin quyền POST_NOTIFICATIONS trên Android 13+ khi mở app lần đầu</a:t>
            </a:r>
          </a:p>
          <a:p>
            <a:pPr algn="l" marL="339328" indent="-169664" lvl="1">
              <a:lnSpc>
                <a:spcPts val="225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Nút “Thử nghiệm thông báo &amp; chuông báo ngay” trong màn hình Cài đặt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86671" y="2331720"/>
            <a:ext cx="8046491" cy="6995160"/>
            <a:chOff x="0" y="0"/>
            <a:chExt cx="10728655" cy="93268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8706" cy="9326880"/>
            </a:xfrm>
            <a:custGeom>
              <a:avLst/>
              <a:gdLst/>
              <a:ahLst/>
              <a:cxnLst/>
              <a:rect r="r" b="b" t="t" l="l"/>
              <a:pathLst>
                <a:path h="9326880" w="1072870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681"/>
                    <a:pt x="10728706" y="256032"/>
                  </a:cubicBezTo>
                  <a:lnTo>
                    <a:pt x="10728706" y="9070848"/>
                  </a:lnTo>
                  <a:cubicBezTo>
                    <a:pt x="10728706" y="9212199"/>
                    <a:pt x="10614025" y="9326880"/>
                    <a:pt x="10472674" y="9326880"/>
                  </a:cubicBezTo>
                  <a:lnTo>
                    <a:pt x="256032" y="9326880"/>
                  </a:lnTo>
                  <a:cubicBezTo>
                    <a:pt x="114681" y="9326880"/>
                    <a:pt x="0" y="9212199"/>
                    <a:pt x="0" y="9070848"/>
                  </a:cubicBezTo>
                  <a:close/>
                </a:path>
              </a:pathLst>
            </a:custGeom>
            <a:solidFill>
              <a:srgbClr val="1C144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98151" y="2743200"/>
            <a:ext cx="768096" cy="768096"/>
            <a:chOff x="0" y="0"/>
            <a:chExt cx="1024128" cy="1024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76459" y="2921508"/>
            <a:ext cx="411480" cy="411480"/>
            <a:chOff x="0" y="0"/>
            <a:chExt cx="548640" cy="548640"/>
          </a:xfrm>
        </p:grpSpPr>
        <p:sp>
          <p:nvSpPr>
            <p:cNvPr name="Freeform 33" id="33" descr="/home/claude/icons/moon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58271" y="2798064"/>
            <a:ext cx="6400571" cy="658368"/>
            <a:chOff x="0" y="0"/>
            <a:chExt cx="8534095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8534095" cy="887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b="true" sz="25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Lịch Âm Dương Việt Nam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58152" y="3750926"/>
            <a:ext cx="6903520" cy="51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Thuật toán chuyển đổi thiên văn chính xác (tham khảo Hồ Ngọc Đức), tính múi giờ GMT+7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Hiển thị Can Chi của ngày, tháng và năm Âm lịch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Nhận diện các ngày Âm lịch quan trọng: mùng 1 và ngày rằm (15)</a:t>
            </a:r>
          </a:p>
          <a:p>
            <a:pPr algn="l" marL="339328" indent="-169664" lvl="1">
              <a:lnSpc>
                <a:spcPts val="2587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Kết quả được cache lại (ConcurrentHashMap) để tối ưu hiệu năng hiển thị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42853" y="6790715"/>
            <a:ext cx="6269517" cy="2193265"/>
            <a:chOff x="0" y="0"/>
            <a:chExt cx="8359356" cy="292435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359394" cy="2924302"/>
            </a:xfrm>
            <a:custGeom>
              <a:avLst/>
              <a:gdLst/>
              <a:ahLst/>
              <a:cxnLst/>
              <a:rect r="r" b="b" t="t" l="l"/>
              <a:pathLst>
                <a:path h="2924302" w="8359394">
                  <a:moveTo>
                    <a:pt x="0" y="0"/>
                  </a:moveTo>
                  <a:lnTo>
                    <a:pt x="8359394" y="0"/>
                  </a:lnTo>
                  <a:lnTo>
                    <a:pt x="8359394" y="2924302"/>
                  </a:lnTo>
                  <a:lnTo>
                    <a:pt x="0" y="2924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</p:spTree>
  </p:cSld>
  <p:clrMapOvr>
    <a:masterClrMapping/>
  </p:clrMapOvr>
  <p:transition spd="fast">
    <p:wipe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clou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06 · HỆ THỐNG NỀN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Tích hợp dữ liệu từ API bên ngoài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527935"/>
            <a:ext cx="5246218" cy="5093970"/>
            <a:chOff x="0" y="0"/>
            <a:chExt cx="6994957" cy="6791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5033" cy="6791960"/>
            </a:xfrm>
            <a:custGeom>
              <a:avLst/>
              <a:gdLst/>
              <a:ahLst/>
              <a:cxnLst/>
              <a:rect r="r" b="b" t="t" l="l"/>
              <a:pathLst>
                <a:path h="6791960" w="6995033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915336" y="2976372"/>
            <a:ext cx="905256" cy="905256"/>
            <a:chOff x="0" y="0"/>
            <a:chExt cx="1207008" cy="12070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121076" y="3182112"/>
            <a:ext cx="493776" cy="493776"/>
            <a:chOff x="0" y="0"/>
            <a:chExt cx="658368" cy="658368"/>
          </a:xfrm>
        </p:grpSpPr>
        <p:sp>
          <p:nvSpPr>
            <p:cNvPr name="Freeform 23" id="23" descr="/home/claude/icons/sunny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92689" y="4125449"/>
            <a:ext cx="4550540" cy="7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Open-Meteo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56132" y="5074920"/>
            <a:ext cx="4623664" cy="1508760"/>
            <a:chOff x="0" y="0"/>
            <a:chExt cx="6164885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64884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6164885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54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Dự báo thời tiết 7 ngày kế tiếp theo toạ độ (mặc định Hà Nội, Việt Nam)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8988" y="6850856"/>
            <a:ext cx="4637951" cy="535496"/>
            <a:chOff x="0" y="0"/>
            <a:chExt cx="6183935" cy="7139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84011" cy="713994"/>
            </a:xfrm>
            <a:custGeom>
              <a:avLst/>
              <a:gdLst/>
              <a:ahLst/>
              <a:cxnLst/>
              <a:rect r="r" b="b" t="t" l="l"/>
              <a:pathLst>
                <a:path h="713994" w="6184011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56132" y="6858000"/>
            <a:ext cx="4623664" cy="521208"/>
            <a:chOff x="0" y="0"/>
            <a:chExt cx="6164885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64884" cy="694944"/>
            </a:xfrm>
            <a:custGeom>
              <a:avLst/>
              <a:gdLst/>
              <a:ahLst/>
              <a:cxnLst/>
              <a:rect r="r" b="b" t="t" l="l"/>
              <a:pathLst>
                <a:path h="694944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2" r="0" b="-12285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164885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4"/>
                </a:lnSpc>
              </a:pPr>
              <a:r>
                <a:rPr lang="en-US" sz="1245">
                  <a:solidFill>
                    <a:srgbClr val="5B42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/v1/forecast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520663" y="2527935"/>
            <a:ext cx="5246218" cy="5093970"/>
            <a:chOff x="0" y="0"/>
            <a:chExt cx="6994957" cy="6791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95033" cy="6791960"/>
            </a:xfrm>
            <a:custGeom>
              <a:avLst/>
              <a:gdLst/>
              <a:ahLst/>
              <a:cxnLst/>
              <a:rect r="r" b="b" t="t" l="l"/>
              <a:pathLst>
                <a:path h="6791960" w="6995033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691143" y="2976372"/>
            <a:ext cx="905256" cy="905256"/>
            <a:chOff x="0" y="0"/>
            <a:chExt cx="1207008" cy="12070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896883" y="3182112"/>
            <a:ext cx="493776" cy="493776"/>
            <a:chOff x="0" y="0"/>
            <a:chExt cx="658368" cy="658368"/>
          </a:xfrm>
        </p:grpSpPr>
        <p:sp>
          <p:nvSpPr>
            <p:cNvPr name="Freeform 38" id="38" descr="/home/claude/icons/public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868497" y="4125449"/>
            <a:ext cx="4550540" cy="7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date.nager.at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831940" y="5074920"/>
            <a:ext cx="4623664" cy="1508760"/>
            <a:chOff x="0" y="0"/>
            <a:chExt cx="6164885" cy="20116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164884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6164885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54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Danh sách ngày lễ công cộng Việt Nam theo từng năm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824796" y="6850856"/>
            <a:ext cx="4637951" cy="535496"/>
            <a:chOff x="0" y="0"/>
            <a:chExt cx="6183935" cy="713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184011" cy="713994"/>
            </a:xfrm>
            <a:custGeom>
              <a:avLst/>
              <a:gdLst/>
              <a:ahLst/>
              <a:cxnLst/>
              <a:rect r="r" b="b" t="t" l="l"/>
              <a:pathLst>
                <a:path h="713994" w="6184011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31940" y="6858000"/>
            <a:ext cx="4623664" cy="521208"/>
            <a:chOff x="0" y="0"/>
            <a:chExt cx="6164885" cy="6949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64884" cy="694944"/>
            </a:xfrm>
            <a:custGeom>
              <a:avLst/>
              <a:gdLst/>
              <a:ahLst/>
              <a:cxnLst/>
              <a:rect r="r" b="b" t="t" l="l"/>
              <a:pathLst>
                <a:path h="694944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2" r="0" b="-12285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164885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4"/>
                </a:lnSpc>
              </a:pPr>
              <a:r>
                <a:rPr lang="en-US" sz="1245">
                  <a:solidFill>
                    <a:srgbClr val="5B42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GET /api/v3/PublicHolidays/{year}/VN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296470" y="2527935"/>
            <a:ext cx="5246218" cy="5093970"/>
            <a:chOff x="0" y="0"/>
            <a:chExt cx="6994957" cy="6791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95033" cy="6791960"/>
            </a:xfrm>
            <a:custGeom>
              <a:avLst/>
              <a:gdLst/>
              <a:ahLst/>
              <a:cxnLst/>
              <a:rect r="r" b="b" t="t" l="l"/>
              <a:pathLst>
                <a:path h="6791960" w="6995033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466951" y="2976372"/>
            <a:ext cx="905256" cy="905256"/>
            <a:chOff x="0" y="0"/>
            <a:chExt cx="1207008" cy="12070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07008" cy="1207008"/>
            </a:xfrm>
            <a:custGeom>
              <a:avLst/>
              <a:gdLst/>
              <a:ahLst/>
              <a:cxnLst/>
              <a:rect r="r" b="b" t="t" l="l"/>
              <a:pathLst>
                <a:path h="1207008" w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672691" y="3182112"/>
            <a:ext cx="493776" cy="493776"/>
            <a:chOff x="0" y="0"/>
            <a:chExt cx="658368" cy="658368"/>
          </a:xfrm>
        </p:grpSpPr>
        <p:sp>
          <p:nvSpPr>
            <p:cNvPr name="Freeform 53" id="53" descr="/home/claude/icons/smartToy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644304" y="4125449"/>
            <a:ext cx="4550540" cy="7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25">
                <a:solidFill>
                  <a:srgbClr val="1E1E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Generative Language API (Gemini)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2607747" y="5074920"/>
            <a:ext cx="4623664" cy="1508760"/>
            <a:chOff x="0" y="0"/>
            <a:chExt cx="6164885" cy="2011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164884" cy="2011680"/>
            </a:xfrm>
            <a:custGeom>
              <a:avLst/>
              <a:gdLst/>
              <a:ahLst/>
              <a:cxnLst/>
              <a:rect r="r" b="b" t="t" l="l"/>
              <a:pathLst>
                <a:path h="2011680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" r="0" b="-971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6164885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29"/>
                </a:lnSpc>
              </a:pPr>
              <a:r>
                <a:rPr lang="en-US" sz="1545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Sinh nội dung trả lời cho tính năng Trợ lý AI trò chuyện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600603" y="6850856"/>
            <a:ext cx="4637951" cy="535496"/>
            <a:chOff x="0" y="0"/>
            <a:chExt cx="6183935" cy="71399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184011" cy="713994"/>
            </a:xfrm>
            <a:custGeom>
              <a:avLst/>
              <a:gdLst/>
              <a:ahLst/>
              <a:cxnLst/>
              <a:rect r="r" b="b" t="t" l="l"/>
              <a:pathLst>
                <a:path h="713994" w="6184011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w="14288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607747" y="6858000"/>
            <a:ext cx="4623664" cy="521208"/>
            <a:chOff x="0" y="0"/>
            <a:chExt cx="6164885" cy="694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164884" cy="694944"/>
            </a:xfrm>
            <a:custGeom>
              <a:avLst/>
              <a:gdLst/>
              <a:ahLst/>
              <a:cxnLst/>
              <a:rect r="r" b="b" t="t" l="l"/>
              <a:pathLst>
                <a:path h="694944" w="616488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852" r="0" b="-12285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6164885" cy="704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4"/>
                </a:lnSpc>
              </a:pPr>
              <a:r>
                <a:rPr lang="en-US" sz="1245">
                  <a:solidFill>
                    <a:srgbClr val="5B42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POST /v1beta/models/{model}:generateContent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54380" y="7955280"/>
            <a:ext cx="16778783" cy="480060"/>
            <a:chOff x="0" y="0"/>
            <a:chExt cx="22371710" cy="640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371710" cy="640080"/>
            </a:xfrm>
            <a:custGeom>
              <a:avLst/>
              <a:gdLst/>
              <a:ahLst/>
              <a:cxnLst/>
              <a:rect r="r" b="b" t="t" l="l"/>
              <a:pathLst>
                <a:path h="640080" w="22371710">
                  <a:moveTo>
                    <a:pt x="0" y="0"/>
                  </a:moveTo>
                  <a:lnTo>
                    <a:pt x="22371710" y="0"/>
                  </a:lnTo>
                  <a:lnTo>
                    <a:pt x="2237171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1029" r="0" b="-63102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37171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68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Kết nối qua Retrofit2 + OkHttp + Moshi  •  Dữ liệu được lưu cache cục bộ trong Room để dùng khi offline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685800"/>
            <a:ext cx="850392" cy="850392"/>
            <a:chOff x="0" y="0"/>
            <a:chExt cx="1133856" cy="11338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891540"/>
            <a:ext cx="438912" cy="438912"/>
            <a:chOff x="0" y="0"/>
            <a:chExt cx="585216" cy="585216"/>
          </a:xfrm>
        </p:grpSpPr>
        <p:sp>
          <p:nvSpPr>
            <p:cNvPr name="Freeform 5" id="5" descr="/home/claude/icons/trending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092" y="630936"/>
            <a:ext cx="10972800" cy="384048"/>
            <a:chOff x="0" y="0"/>
            <a:chExt cx="146304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512064"/>
            </a:xfrm>
            <a:custGeom>
              <a:avLst/>
              <a:gdLst/>
              <a:ahLst/>
              <a:cxnLst/>
              <a:rect r="r" b="b" t="t" l="l"/>
              <a:pathLst>
                <a:path h="512064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6304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5B42F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PHẦN 07 · TỔNG KẾT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79092" y="987552"/>
            <a:ext cx="14401800" cy="768096"/>
            <a:chOff x="0" y="0"/>
            <a:chExt cx="19202400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9202400" cy="1024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Kết quả đạt được &amp; Hướng phát triển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9765792"/>
            <a:ext cx="9601200" cy="384048"/>
            <a:chOff x="0" y="0"/>
            <a:chExt cx="1280160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0" cy="512064"/>
            </a:xfrm>
            <a:custGeom>
              <a:avLst/>
              <a:gdLst/>
              <a:ahLst/>
              <a:cxnLst/>
              <a:rect r="r" b="b" t="t" l="l"/>
              <a:pathLst>
                <a:path h="512064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80160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Đồ án thực tập Android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710203" y="9765792"/>
            <a:ext cx="822960" cy="384048"/>
            <a:chOff x="0" y="0"/>
            <a:chExt cx="1097280" cy="512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4" t="0" r="-987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" cy="540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8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4855" y="2322195"/>
            <a:ext cx="8065541" cy="7082790"/>
            <a:chOff x="0" y="0"/>
            <a:chExt cx="10754055" cy="9443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4106" cy="9443720"/>
            </a:xfrm>
            <a:custGeom>
              <a:avLst/>
              <a:gdLst/>
              <a:ahLst/>
              <a:cxnLst/>
              <a:rect r="r" b="b" t="t" l="l"/>
              <a:pathLst>
                <a:path h="9443720" w="10754106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439" y="0"/>
                  </a:lnTo>
                  <a:cubicBezTo>
                    <a:pt x="10639171" y="0"/>
                    <a:pt x="10754106" y="114935"/>
                    <a:pt x="10754106" y="256667"/>
                  </a:cubicBezTo>
                  <a:lnTo>
                    <a:pt x="10754106" y="9187053"/>
                  </a:lnTo>
                  <a:cubicBezTo>
                    <a:pt x="10754106" y="9328785"/>
                    <a:pt x="10639171" y="9443720"/>
                    <a:pt x="10497439" y="9443720"/>
                  </a:cubicBezTo>
                  <a:lnTo>
                    <a:pt x="256667" y="9443720"/>
                  </a:lnTo>
                  <a:cubicBezTo>
                    <a:pt x="114935" y="9443720"/>
                    <a:pt x="0" y="9328785"/>
                    <a:pt x="0" y="918705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DFF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74320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44168" y="2921508"/>
            <a:ext cx="411480" cy="411480"/>
            <a:chOff x="0" y="0"/>
            <a:chExt cx="548640" cy="548640"/>
          </a:xfrm>
        </p:grpSpPr>
        <p:sp>
          <p:nvSpPr>
            <p:cNvPr name="Freeform 23" id="23" descr="/home/claude/icons/check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25980" y="2798064"/>
            <a:ext cx="6400571" cy="658368"/>
            <a:chOff x="0" y="0"/>
            <a:chExt cx="8534095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534095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1E1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Đã hoàn thành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25861" y="3722351"/>
            <a:ext cx="6903520" cy="528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Lịch trình trực quan 3 chế độ Ngày / Tuần / Tháng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Trợ lý AI trò chuyện dựa trên ngữ cảnh lịch cá nhân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Thống kê hiệu suất trực quan bằng biểu đồ đa dạng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7 kích thước widget hiển thị việc cần làm trên màn hình chính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Thông báo kèm âm thanh &amp; Lịch Âm Dương Việt Nam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3F3D56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thời tiết và ngày lễ từ API bên ngoài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86671" y="2331720"/>
            <a:ext cx="8046491" cy="7063740"/>
            <a:chOff x="0" y="0"/>
            <a:chExt cx="10728655" cy="94183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728706" cy="9418320"/>
            </a:xfrm>
            <a:custGeom>
              <a:avLst/>
              <a:gdLst/>
              <a:ahLst/>
              <a:cxnLst/>
              <a:rect r="r" b="b" t="t" l="l"/>
              <a:pathLst>
                <a:path h="9418320" w="10728706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554"/>
                    <a:pt x="10728706" y="256032"/>
                  </a:cubicBezTo>
                  <a:lnTo>
                    <a:pt x="10728706" y="9162288"/>
                  </a:lnTo>
                  <a:cubicBezTo>
                    <a:pt x="10728706" y="9303639"/>
                    <a:pt x="10614152" y="9418320"/>
                    <a:pt x="10472674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1C144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98151" y="2743200"/>
            <a:ext cx="768153" cy="768153"/>
            <a:chOff x="0" y="0"/>
            <a:chExt cx="1024204" cy="10242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255" cy="1024255"/>
            </a:xfrm>
            <a:custGeom>
              <a:avLst/>
              <a:gdLst/>
              <a:ahLst/>
              <a:cxnLst/>
              <a:rect r="r" b="b" t="t" l="l"/>
              <a:pathLst>
                <a:path h="1024255" w="1024255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255" y="229235"/>
                    <a:pt x="1024255" y="512064"/>
                  </a:cubicBezTo>
                  <a:cubicBezTo>
                    <a:pt x="1024255" y="794893"/>
                    <a:pt x="794893" y="1024255"/>
                    <a:pt x="512064" y="1024255"/>
                  </a:cubicBezTo>
                  <a:cubicBezTo>
                    <a:pt x="229235" y="1024255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76459" y="2921508"/>
            <a:ext cx="411480" cy="411480"/>
            <a:chOff x="0" y="0"/>
            <a:chExt cx="548640" cy="548640"/>
          </a:xfrm>
        </p:grpSpPr>
        <p:sp>
          <p:nvSpPr>
            <p:cNvPr name="Freeform 33" id="33" descr="/home/claude/icons/trending.png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858271" y="2798064"/>
            <a:ext cx="6400571" cy="658368"/>
            <a:chOff x="0" y="0"/>
            <a:chExt cx="8534095" cy="8778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096" cy="877824"/>
            </a:xfrm>
            <a:custGeom>
              <a:avLst/>
              <a:gdLst/>
              <a:ahLst/>
              <a:cxnLst/>
              <a:rect r="r" b="b" t="t" l="l"/>
              <a:pathLst>
                <a:path h="877824" w="8534096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431" r="0" b="-1394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534095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Hướng phát triển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058152" y="3722351"/>
            <a:ext cx="6903520" cy="5284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Đồng bộ đám mây &amp; đăng nhập tài khoản người dùng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Chia sẻ lịch trình theo nhóm / gia đình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Xuất báo cáo thống kê ra file PDF</a:t>
            </a:r>
          </a:p>
          <a:p>
            <a:pPr algn="l" marL="339328" indent="-169664" lvl="1">
              <a:lnSpc>
                <a:spcPts val="2880"/>
              </a:lnSpc>
              <a:buFont typeface="Arial"/>
              <a:buChar char="•"/>
            </a:pPr>
            <a:r>
              <a:rPr lang="en-US" sz="1875">
                <a:solidFill>
                  <a:srgbClr val="D9D3FA"/>
                </a:solidFill>
                <a:latin typeface="Calibri (MS)"/>
                <a:ea typeface="Calibri (MS)"/>
                <a:cs typeface="Calibri (MS)"/>
                <a:sym typeface="Calibri (MS)"/>
              </a:rPr>
              <a:t>Hỗ trợ đa ngôn ngữ (song song Tiếng Việt / English),...</a:t>
            </a:r>
          </a:p>
        </p:txBody>
      </p: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46888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B42F3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017520" y="7132320"/>
            <a:ext cx="6583680" cy="6583680"/>
            <a:chOff x="0" y="0"/>
            <a:chExt cx="8778240" cy="87782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782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7662F5">
                <a:alpha val="313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57971" y="212598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5B42F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87155" y="2455164"/>
            <a:ext cx="713232" cy="713232"/>
            <a:chOff x="0" y="0"/>
            <a:chExt cx="950976" cy="950976"/>
          </a:xfrm>
        </p:grpSpPr>
        <p:sp>
          <p:nvSpPr>
            <p:cNvPr name="Freeform 9" id="9" descr="/home/claude/icons/favorite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3909060"/>
            <a:ext cx="18287543" cy="1028700"/>
            <a:chOff x="0" y="0"/>
            <a:chExt cx="2438339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3391" cy="1371600"/>
            </a:xfrm>
            <a:custGeom>
              <a:avLst/>
              <a:gdLst/>
              <a:ahLst/>
              <a:cxnLst/>
              <a:rect r="r" b="b" t="t" l="l"/>
              <a:pathLst>
                <a:path h="137160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92" r="0" b="-2963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438339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b="true" sz="5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Cảm ơn mọi người đã theo dõi!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11451" y="4937760"/>
            <a:ext cx="14264640" cy="617220"/>
            <a:chOff x="0" y="0"/>
            <a:chExt cx="1901952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19520" cy="822960"/>
            </a:xfrm>
            <a:custGeom>
              <a:avLst/>
              <a:gdLst/>
              <a:ahLst/>
              <a:cxnLst/>
              <a:rect r="r" b="b" t="t" l="l"/>
              <a:pathLst>
                <a:path h="82296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320" r="0" b="-4003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90195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>
                  <a:solidFill>
                    <a:srgbClr val="CFC9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Schedule — Ứng dụng quản lý lịch trình &amp; năng suất cá nhân thông minh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14880">
            <a:off x="6939667" y="5961697"/>
            <a:ext cx="4408208" cy="0"/>
          </a:xfrm>
          <a:prstGeom prst="line">
            <a:avLst/>
          </a:prstGeom>
          <a:ln cap="rnd" w="9525">
            <a:solidFill>
              <a:srgbClr val="463B8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0" y="6240780"/>
            <a:ext cx="18287543" cy="548640"/>
            <a:chOff x="0" y="0"/>
            <a:chExt cx="2438339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3391" cy="731520"/>
            </a:xfrm>
            <a:custGeom>
              <a:avLst/>
              <a:gdLst/>
              <a:ahLst/>
              <a:cxnLst/>
              <a:rect r="r" b="b" t="t" l="l"/>
              <a:pathLst>
                <a:path h="73152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485" r="0" b="-59948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438339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>
                  <a:solidFill>
                    <a:srgbClr val="7662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CÂU HỎI &amp; THẢO LUẬN</a:t>
              </a:r>
            </a:p>
          </p:txBody>
        </p:sp>
      </p:grp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DAHTUDnzNvU</dc:identifier>
  <dcterms:modified xsi:type="dcterms:W3CDTF">2011-08-01T06:04:30Z</dcterms:modified>
  <cp:revision>1</cp:revision>
  <dc:title>Bài thuyết trình Báo cáo kinh doanh thường niên Màu trắng tím nhạt và xanh lam phong cách hình học</dc:title>
</cp:coreProperties>
</file>